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1" r:id="rId6"/>
    <p:sldId id="262" r:id="rId7"/>
    <p:sldId id="263" r:id="rId8"/>
    <p:sldId id="265" r:id="rId9"/>
    <p:sldId id="266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2" d="100"/>
          <a:sy n="142" d="100"/>
        </p:scale>
        <p:origin x="7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8138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932CE-3878-AAB4-0893-BEA4EEB6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CACB51-DCB7-3411-0539-A6908AC57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5AEC7-959C-C478-4EEB-866CE60E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AA3CD-673D-53B5-8E93-FA1114FAAE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681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C500F-F2C9-D3F1-1E15-D35E74A18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5A70A-56CC-6947-C626-F26753C26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6925A2-4D7C-57B6-EC3D-0EB88931B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E3DA0-FB91-0801-09EF-8AE9C0310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629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3F8A0-557F-2389-2361-669486B10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6FF6D-FA35-305C-C292-96194F6BB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61C94C-31CB-DE3E-CA1C-914B13DC7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119A0-ECB2-C4BD-8B06-24FC7B33A0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5981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10972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77240" y="73152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 en Valencia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y Predicción de Precios con Machine Learning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74320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67512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2192E"/>
          </a:solidFill>
          <a:ln w="12700">
            <a:solidFill>
              <a:srgbClr val="1219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7724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- Bootcamp Data Science - </a:t>
            </a:r>
            <a:r>
              <a:rPr lang="es-ES" sz="1100" b="1" dirty="0">
                <a:solidFill>
                  <a:schemeClr val="bg1"/>
                </a:solidFill>
              </a:rPr>
              <a:t>Ana Prieto, Anaïs Dethy y Gabriel López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analizar el mercado inmobiliario valenciano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27889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2427463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5" name="Shape 13"/>
          <p:cNvSpPr/>
          <p:nvPr/>
        </p:nvSpPr>
        <p:spPr>
          <a:xfrm>
            <a:off x="365760" y="2427463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6" name="Text 14"/>
          <p:cNvSpPr/>
          <p:nvPr/>
        </p:nvSpPr>
        <p:spPr>
          <a:xfrm>
            <a:off x="502920" y="2473183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2920" y="2793223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Análisis Exploratorio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308583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outliers, correlaciones y mapas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666206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65760" y="3666206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502920" y="371192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2920" y="403196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Pipeline de Machine Learning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432457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Lineal, Árbol de Decisión y Random Forest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65638" y="1188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4765638" y="118872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902798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902798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Métricas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2798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RMSE, MAE, R² y comparativa de modelos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65638" y="24231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765638" y="242316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902798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902798" y="27889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02798" y="30815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clave del precio y próximos pasos</a:t>
            </a:r>
            <a:endParaRPr lang="en-US" sz="950" dirty="0"/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C2126EC1-FBCB-A361-7BBA-D363BE2CE4C4}"/>
              </a:ext>
            </a:extLst>
          </p:cNvPr>
          <p:cNvSpPr/>
          <p:nvPr/>
        </p:nvSpPr>
        <p:spPr>
          <a:xfrm>
            <a:off x="4765638" y="3689066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AAD62BB9-0B23-5BBD-19D1-F2D6BBA4C726}"/>
              </a:ext>
            </a:extLst>
          </p:cNvPr>
          <p:cNvSpPr/>
          <p:nvPr/>
        </p:nvSpPr>
        <p:spPr>
          <a:xfrm>
            <a:off x="4765638" y="3689066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5FFECF4F-C279-12FE-F70D-2C88CCDD6B7C}"/>
              </a:ext>
            </a:extLst>
          </p:cNvPr>
          <p:cNvSpPr/>
          <p:nvPr/>
        </p:nvSpPr>
        <p:spPr>
          <a:xfrm>
            <a:off x="4902798" y="373478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A98D91B0-B377-799E-FF8B-C6C87F292C96}"/>
              </a:ext>
            </a:extLst>
          </p:cNvPr>
          <p:cNvSpPr/>
          <p:nvPr/>
        </p:nvSpPr>
        <p:spPr>
          <a:xfrm>
            <a:off x="4902798" y="405482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Anexos</a:t>
            </a:r>
            <a:endParaRPr lang="en-US" sz="1300" dirty="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EFF3CF0D-9F48-05B5-147F-4EDAEFAAFDCA}"/>
              </a:ext>
            </a:extLst>
          </p:cNvPr>
          <p:cNvSpPr/>
          <p:nvPr/>
        </p:nvSpPr>
        <p:spPr>
          <a:xfrm>
            <a:off x="4902798" y="434743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clave del precio y próximos pasos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303520" cy="347472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Valencia?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inmobiliario valenciano ha experimentado un auge sostenido, con subidas del precio por m² superiores al 10% anual en determinados distritos.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Inversores y compradores necesitan herramientas basadas en datos para tomar decisiones informadas.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disponibilidad de datos de múltiples portales (Fotocasa, Habitaclia, Milanuncios) permite un análisis rico y representativo.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188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1691640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035040" y="172821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 EDA profundo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2039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Patrones, outliers y correlaciones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496312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035040" y="253288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 Limpieza de datos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2843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y precios unitarios extremos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3300984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035040" y="33375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 Feature Engineering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36484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clave: ubicación, superficie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4105656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035040" y="414223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 Modelado predictivo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4531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como modelo final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76A7-A0A7-66D3-C485-2762BDB0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C43114-6D55-DD9D-7B9D-560BF10BC0B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2337F29-F4FE-59C3-0D20-7C278420C717}"/>
              </a:ext>
            </a:extLst>
          </p:cNvPr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Análisis Exploratorio de Datos</a:t>
            </a:r>
            <a:endParaRPr lang="en-US" sz="2400" dirty="0"/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880B1733-225F-1AA1-BA3D-7A0A17A15196}"/>
              </a:ext>
            </a:extLst>
          </p:cNvPr>
          <p:cNvSpPr/>
          <p:nvPr/>
        </p:nvSpPr>
        <p:spPr>
          <a:xfrm>
            <a:off x="152018" y="2306573"/>
            <a:ext cx="3316415" cy="77281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ES" dirty="0"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52DEEB70-64E4-ECD7-8DB7-EF59B6782D87}"/>
              </a:ext>
            </a:extLst>
          </p:cNvPr>
          <p:cNvGrpSpPr/>
          <p:nvPr/>
        </p:nvGrpSpPr>
        <p:grpSpPr>
          <a:xfrm>
            <a:off x="84681" y="2425446"/>
            <a:ext cx="2905506" cy="2468880"/>
            <a:chOff x="152019" y="2306574"/>
            <a:chExt cx="3550920" cy="2468880"/>
          </a:xfrm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3B7E7531-5191-BFBF-1771-E2FE1171E439}"/>
                </a:ext>
              </a:extLst>
            </p:cNvPr>
            <p:cNvSpPr/>
            <p:nvPr/>
          </p:nvSpPr>
          <p:spPr>
            <a:xfrm>
              <a:off x="152019" y="2306574"/>
              <a:ext cx="3550920" cy="24688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n-GB" noProof="0" dirty="0"/>
            </a:p>
          </p:txBody>
        </p:sp>
        <p:sp>
          <p:nvSpPr>
            <p:cNvPr id="22" name="Text 29">
              <a:extLst>
                <a:ext uri="{FF2B5EF4-FFF2-40B4-BE49-F238E27FC236}">
                  <a16:creationId xmlns:a16="http://schemas.microsoft.com/office/drawing/2014/main" id="{93FFBB18-1B9F-AE4A-CE6B-C75CAFB7CDF6}"/>
                </a:ext>
              </a:extLst>
            </p:cNvPr>
            <p:cNvSpPr/>
            <p:nvPr/>
          </p:nvSpPr>
          <p:spPr>
            <a:xfrm>
              <a:off x="289179" y="2398014"/>
              <a:ext cx="34137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100" b="1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¿Por qué aprendizaje supervisado?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30">
              <a:extLst>
                <a:ext uri="{FF2B5EF4-FFF2-40B4-BE49-F238E27FC236}">
                  <a16:creationId xmlns:a16="http://schemas.microsoft.com/office/drawing/2014/main" id="{E3AE8C01-2695-E697-3CB6-7CEE575CE860}"/>
                </a:ext>
              </a:extLst>
            </p:cNvPr>
            <p:cNvSpPr/>
            <p:nvPr/>
          </p:nvSpPr>
          <p:spPr>
            <a:xfrm>
              <a:off x="289179" y="2836926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Tenemos una variable objetivo: Precio unitario (€/m²) TARGET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31">
              <a:extLst>
                <a:ext uri="{FF2B5EF4-FFF2-40B4-BE49-F238E27FC236}">
                  <a16:creationId xmlns:a16="http://schemas.microsoft.com/office/drawing/2014/main" id="{79E3C6C5-8DBD-81FD-3B34-8087F243BD09}"/>
                </a:ext>
              </a:extLst>
            </p:cNvPr>
            <p:cNvSpPr/>
            <p:nvPr/>
          </p:nvSpPr>
          <p:spPr>
            <a:xfrm>
              <a:off x="289179" y="3275838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Datos etiquetados con precios de oferta de venta de viviendas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Text 32">
              <a:extLst>
                <a:ext uri="{FF2B5EF4-FFF2-40B4-BE49-F238E27FC236}">
                  <a16:creationId xmlns:a16="http://schemas.microsoft.com/office/drawing/2014/main" id="{8EEB34D3-6B97-9CA5-B0A2-1DD354EE0751}"/>
                </a:ext>
              </a:extLst>
            </p:cNvPr>
            <p:cNvSpPr/>
            <p:nvPr/>
          </p:nvSpPr>
          <p:spPr>
            <a:xfrm>
              <a:off x="289179" y="3714750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Problema de regresión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33">
              <a:extLst>
                <a:ext uri="{FF2B5EF4-FFF2-40B4-BE49-F238E27FC236}">
                  <a16:creationId xmlns:a16="http://schemas.microsoft.com/office/drawing/2014/main" id="{50130794-0F89-28CA-5F06-8665516A5606}"/>
                </a:ext>
              </a:extLst>
            </p:cNvPr>
            <p:cNvSpPr/>
            <p:nvPr/>
          </p:nvSpPr>
          <p:spPr>
            <a:xfrm>
              <a:off x="289179" y="4153662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Suficiente volumen: 13.669 registros tras limpieza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Group 22">
            <a:extLst>
              <a:ext uri="{FF2B5EF4-FFF2-40B4-BE49-F238E27FC236}">
                <a16:creationId xmlns:a16="http://schemas.microsoft.com/office/drawing/2014/main" id="{FB4FF3F8-D181-2B58-15E3-C7E144D54F29}"/>
              </a:ext>
            </a:extLst>
          </p:cNvPr>
          <p:cNvGrpSpPr/>
          <p:nvPr/>
        </p:nvGrpSpPr>
        <p:grpSpPr>
          <a:xfrm>
            <a:off x="390144" y="1155764"/>
            <a:ext cx="1965960" cy="822960"/>
            <a:chOff x="760476" y="1708024"/>
            <a:chExt cx="1965960" cy="8229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6EB8A4BE-888B-F620-615D-CD259D96E456}"/>
                </a:ext>
              </a:extLst>
            </p:cNvPr>
            <p:cNvSpPr/>
            <p:nvPr/>
          </p:nvSpPr>
          <p:spPr>
            <a:xfrm>
              <a:off x="760476" y="170802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32AFBC59-8D8B-123A-6CFE-6B55E93E51D8}"/>
                </a:ext>
              </a:extLst>
            </p:cNvPr>
            <p:cNvSpPr/>
            <p:nvPr/>
          </p:nvSpPr>
          <p:spPr>
            <a:xfrm>
              <a:off x="760476" y="172631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24000</a:t>
              </a:r>
              <a:endParaRPr lang="en-US" sz="2200" dirty="0"/>
            </a:p>
          </p:txBody>
        </p:sp>
        <p:sp>
          <p:nvSpPr>
            <p:cNvPr id="30" name="Text 5">
              <a:extLst>
                <a:ext uri="{FF2B5EF4-FFF2-40B4-BE49-F238E27FC236}">
                  <a16:creationId xmlns:a16="http://schemas.microsoft.com/office/drawing/2014/main" id="{A16C1F76-6FEE-AB4B-200F-616B15F63D1D}"/>
                </a:ext>
              </a:extLst>
            </p:cNvPr>
            <p:cNvSpPr/>
            <p:nvPr/>
          </p:nvSpPr>
          <p:spPr>
            <a:xfrm>
              <a:off x="760476" y="218351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registros brutos</a:t>
              </a:r>
              <a:endParaRPr lang="en-US" sz="900" dirty="0"/>
            </a:p>
          </p:txBody>
        </p:sp>
      </p:grpSp>
      <p:sp>
        <p:nvSpPr>
          <p:cNvPr id="31" name="Shape 6">
            <a:extLst>
              <a:ext uri="{FF2B5EF4-FFF2-40B4-BE49-F238E27FC236}">
                <a16:creationId xmlns:a16="http://schemas.microsoft.com/office/drawing/2014/main" id="{10572ABF-A52F-EE40-5496-66632028866E}"/>
              </a:ext>
            </a:extLst>
          </p:cNvPr>
          <p:cNvSpPr/>
          <p:nvPr/>
        </p:nvSpPr>
        <p:spPr>
          <a:xfrm>
            <a:off x="2606040" y="1155764"/>
            <a:ext cx="1965960" cy="82296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grpSp>
        <p:nvGrpSpPr>
          <p:cNvPr id="32" name="Group 24">
            <a:extLst>
              <a:ext uri="{FF2B5EF4-FFF2-40B4-BE49-F238E27FC236}">
                <a16:creationId xmlns:a16="http://schemas.microsoft.com/office/drawing/2014/main" id="{AFBAE53F-08CA-8D5A-9685-87CF5E27BB37}"/>
              </a:ext>
            </a:extLst>
          </p:cNvPr>
          <p:cNvGrpSpPr/>
          <p:nvPr/>
        </p:nvGrpSpPr>
        <p:grpSpPr>
          <a:xfrm>
            <a:off x="4696206" y="1149730"/>
            <a:ext cx="1965960" cy="822960"/>
            <a:chOff x="5113020" y="1708024"/>
            <a:chExt cx="1965960" cy="822960"/>
          </a:xfrm>
        </p:grpSpPr>
        <p:sp>
          <p:nvSpPr>
            <p:cNvPr id="33" name="Shape 9">
              <a:extLst>
                <a:ext uri="{FF2B5EF4-FFF2-40B4-BE49-F238E27FC236}">
                  <a16:creationId xmlns:a16="http://schemas.microsoft.com/office/drawing/2014/main" id="{354D67C0-E041-66B9-79E4-2F66CB12F702}"/>
                </a:ext>
              </a:extLst>
            </p:cNvPr>
            <p:cNvSpPr/>
            <p:nvPr/>
          </p:nvSpPr>
          <p:spPr>
            <a:xfrm>
              <a:off x="5113020" y="170802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 10">
              <a:extLst>
                <a:ext uri="{FF2B5EF4-FFF2-40B4-BE49-F238E27FC236}">
                  <a16:creationId xmlns:a16="http://schemas.microsoft.com/office/drawing/2014/main" id="{24BB067A-D059-B03D-20F7-FCFC87353362}"/>
                </a:ext>
              </a:extLst>
            </p:cNvPr>
            <p:cNvSpPr/>
            <p:nvPr/>
          </p:nvSpPr>
          <p:spPr>
            <a:xfrm>
              <a:off x="5113020" y="172631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16</a:t>
              </a:r>
              <a:endParaRPr lang="en-US" sz="2200" dirty="0">
                <a:solidFill>
                  <a:srgbClr val="2563EB"/>
                </a:solidFill>
              </a:endParaRPr>
            </a:p>
          </p:txBody>
        </p:sp>
        <p:sp>
          <p:nvSpPr>
            <p:cNvPr id="35" name="Text 11">
              <a:extLst>
                <a:ext uri="{FF2B5EF4-FFF2-40B4-BE49-F238E27FC236}">
                  <a16:creationId xmlns:a16="http://schemas.microsoft.com/office/drawing/2014/main" id="{4C76437E-DEBE-C9F7-85CA-AB3EF5F33B12}"/>
                </a:ext>
              </a:extLst>
            </p:cNvPr>
            <p:cNvSpPr/>
            <p:nvPr/>
          </p:nvSpPr>
          <p:spPr>
            <a:xfrm>
              <a:off x="5113020" y="218351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features finales</a:t>
              </a:r>
              <a:endParaRPr lang="en-US" sz="900" dirty="0"/>
            </a:p>
          </p:txBody>
        </p:sp>
      </p:grpSp>
      <p:grpSp>
        <p:nvGrpSpPr>
          <p:cNvPr id="36" name="Group 25">
            <a:extLst>
              <a:ext uri="{FF2B5EF4-FFF2-40B4-BE49-F238E27FC236}">
                <a16:creationId xmlns:a16="http://schemas.microsoft.com/office/drawing/2014/main" id="{A964456B-2B0E-43AD-FCE8-5B623424D3A1}"/>
              </a:ext>
            </a:extLst>
          </p:cNvPr>
          <p:cNvGrpSpPr/>
          <p:nvPr/>
        </p:nvGrpSpPr>
        <p:grpSpPr>
          <a:xfrm>
            <a:off x="6814189" y="1145096"/>
            <a:ext cx="1965960" cy="822960"/>
            <a:chOff x="4912237" y="1089914"/>
            <a:chExt cx="1965960" cy="822960"/>
          </a:xfrm>
        </p:grpSpPr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E9AE1E22-0BBD-7211-49D2-5DC3ACDD5355}"/>
                </a:ext>
              </a:extLst>
            </p:cNvPr>
            <p:cNvSpPr/>
            <p:nvPr/>
          </p:nvSpPr>
          <p:spPr>
            <a:xfrm>
              <a:off x="4912237" y="108991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38" name="Text 13">
              <a:extLst>
                <a:ext uri="{FF2B5EF4-FFF2-40B4-BE49-F238E27FC236}">
                  <a16:creationId xmlns:a16="http://schemas.microsoft.com/office/drawing/2014/main" id="{A1699188-950F-7D70-97CA-CDCFE9A19864}"/>
                </a:ext>
              </a:extLst>
            </p:cNvPr>
            <p:cNvSpPr/>
            <p:nvPr/>
          </p:nvSpPr>
          <p:spPr>
            <a:xfrm>
              <a:off x="4912237" y="110820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4</a:t>
              </a:r>
              <a:endParaRPr lang="en-US" sz="2200" dirty="0">
                <a:solidFill>
                  <a:srgbClr val="2563EB"/>
                </a:solidFill>
              </a:endParaRPr>
            </a:p>
          </p:txBody>
        </p:sp>
        <p:sp>
          <p:nvSpPr>
            <p:cNvPr id="39" name="Text 14">
              <a:extLst>
                <a:ext uri="{FF2B5EF4-FFF2-40B4-BE49-F238E27FC236}">
                  <a16:creationId xmlns:a16="http://schemas.microsoft.com/office/drawing/2014/main" id="{8E83F3D4-A7DC-9FCD-B255-B315F39B874F}"/>
                </a:ext>
              </a:extLst>
            </p:cNvPr>
            <p:cNvSpPr/>
            <p:nvPr/>
          </p:nvSpPr>
          <p:spPr>
            <a:xfrm>
              <a:off x="4912237" y="156540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modelos comparados</a:t>
              </a:r>
              <a:endParaRPr lang="en-US" sz="900" dirty="0"/>
            </a:p>
          </p:txBody>
        </p:sp>
      </p:grpSp>
      <p:sp>
        <p:nvSpPr>
          <p:cNvPr id="40" name="Text 7">
            <a:extLst>
              <a:ext uri="{FF2B5EF4-FFF2-40B4-BE49-F238E27FC236}">
                <a16:creationId xmlns:a16="http://schemas.microsoft.com/office/drawing/2014/main" id="{2851165A-C4A2-C301-3682-E49AB227CB97}"/>
              </a:ext>
            </a:extLst>
          </p:cNvPr>
          <p:cNvSpPr/>
          <p:nvPr/>
        </p:nvSpPr>
        <p:spPr>
          <a:xfrm>
            <a:off x="2650236" y="1194878"/>
            <a:ext cx="1877568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</a:rPr>
              <a:t>13669</a:t>
            </a:r>
            <a:endParaRPr lang="en-US" sz="2200" dirty="0">
              <a:solidFill>
                <a:srgbClr val="2563EB"/>
              </a:solidFill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95991D3D-C7FC-AA56-6CAC-448A134DC4C0}"/>
              </a:ext>
            </a:extLst>
          </p:cNvPr>
          <p:cNvSpPr/>
          <p:nvPr/>
        </p:nvSpPr>
        <p:spPr>
          <a:xfrm>
            <a:off x="2650236" y="1632997"/>
            <a:ext cx="1877568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</a:rPr>
              <a:t>tras limpieza</a:t>
            </a:r>
            <a:endParaRPr lang="en-US" sz="900" dirty="0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58C6071E-6D7A-892C-A351-67B55A76B230}"/>
              </a:ext>
            </a:extLst>
          </p:cNvPr>
          <p:cNvSpPr/>
          <p:nvPr/>
        </p:nvSpPr>
        <p:spPr>
          <a:xfrm>
            <a:off x="3360539" y="2306574"/>
            <a:ext cx="3550920" cy="827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C1FB344E-433F-0110-59B2-75E8A1192EE4}"/>
              </a:ext>
            </a:extLst>
          </p:cNvPr>
          <p:cNvGrpSpPr/>
          <p:nvPr/>
        </p:nvGrpSpPr>
        <p:grpSpPr>
          <a:xfrm>
            <a:off x="3429124" y="2431542"/>
            <a:ext cx="2793276" cy="2468880"/>
            <a:chOff x="3840099" y="2306574"/>
            <a:chExt cx="3550920" cy="2468880"/>
          </a:xfrm>
        </p:grpSpPr>
        <p:sp>
          <p:nvSpPr>
            <p:cNvPr id="42" name="Shape 27">
              <a:extLst>
                <a:ext uri="{FF2B5EF4-FFF2-40B4-BE49-F238E27FC236}">
                  <a16:creationId xmlns:a16="http://schemas.microsoft.com/office/drawing/2014/main" id="{EAAC79F4-676E-6DEB-F3A4-38D2F65FDC34}"/>
                </a:ext>
              </a:extLst>
            </p:cNvPr>
            <p:cNvSpPr/>
            <p:nvPr/>
          </p:nvSpPr>
          <p:spPr>
            <a:xfrm>
              <a:off x="3840099" y="2306574"/>
              <a:ext cx="3550920" cy="24688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 29">
              <a:extLst>
                <a:ext uri="{FF2B5EF4-FFF2-40B4-BE49-F238E27FC236}">
                  <a16:creationId xmlns:a16="http://schemas.microsoft.com/office/drawing/2014/main" id="{131D6E36-F5BB-271D-22D0-B4EB2B43A039}"/>
                </a:ext>
              </a:extLst>
            </p:cNvPr>
            <p:cNvSpPr/>
            <p:nvPr/>
          </p:nvSpPr>
          <p:spPr>
            <a:xfrm>
              <a:off x="3977259" y="2398014"/>
              <a:ext cx="34137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100" b="1" noProof="0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Decisiones EDA</a:t>
              </a:r>
              <a:endParaRPr lang="es-ES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Text 30">
              <a:extLst>
                <a:ext uri="{FF2B5EF4-FFF2-40B4-BE49-F238E27FC236}">
                  <a16:creationId xmlns:a16="http://schemas.microsoft.com/office/drawing/2014/main" id="{071EF3BA-2929-7D71-C90D-B03F26A2DCEF}"/>
                </a:ext>
              </a:extLst>
            </p:cNvPr>
            <p:cNvSpPr/>
            <p:nvPr/>
          </p:nvSpPr>
          <p:spPr>
            <a:xfrm>
              <a:off x="3977259" y="2836926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Viviendas duplicadas eliminadas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Text 31">
              <a:extLst>
                <a:ext uri="{FF2B5EF4-FFF2-40B4-BE49-F238E27FC236}">
                  <a16:creationId xmlns:a16="http://schemas.microsoft.com/office/drawing/2014/main" id="{B9B2A5CA-ABF3-CA17-F471-B85F34BB9383}"/>
                </a:ext>
              </a:extLst>
            </p:cNvPr>
            <p:cNvSpPr/>
            <p:nvPr/>
          </p:nvSpPr>
          <p:spPr>
            <a:xfrm>
              <a:off x="3977259" y="3175254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Nulos en Baños/Dormitorios eliminados 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Text 32">
              <a:extLst>
                <a:ext uri="{FF2B5EF4-FFF2-40B4-BE49-F238E27FC236}">
                  <a16:creationId xmlns:a16="http://schemas.microsoft.com/office/drawing/2014/main" id="{667E7EF6-4775-EF32-F0F8-7DC171786ABD}"/>
                </a:ext>
              </a:extLst>
            </p:cNvPr>
            <p:cNvSpPr/>
            <p:nvPr/>
          </p:nvSpPr>
          <p:spPr>
            <a:xfrm>
              <a:off x="3977259" y="3579494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Conservación (40% nulos) y Planta excluidas (no da el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nº</a:t>
              </a:r>
              <a:r>
                <a:rPr lang="es-ES" sz="1000" noProof="0" dirty="0">
                  <a:solidFill>
                    <a:srgbClr val="475569"/>
                  </a:solidFill>
                </a:rPr>
                <a:t>  de planta) se recogen como línea de mejora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 33">
              <a:extLst>
                <a:ext uri="{FF2B5EF4-FFF2-40B4-BE49-F238E27FC236}">
                  <a16:creationId xmlns:a16="http://schemas.microsoft.com/office/drawing/2014/main" id="{B7D9013B-C5F0-0101-8C60-7D11B8336A8F}"/>
                </a:ext>
              </a:extLst>
            </p:cNvPr>
            <p:cNvSpPr/>
            <p:nvPr/>
          </p:nvSpPr>
          <p:spPr>
            <a:xfrm>
              <a:off x="3977259" y="3945254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 err="1">
                  <a:solidFill>
                    <a:srgbClr val="475569"/>
                  </a:solidFill>
                </a:rPr>
                <a:t>MinMaxScaler</a:t>
              </a:r>
              <a:r>
                <a:rPr lang="es-ES" sz="1000" noProof="0" dirty="0">
                  <a:solidFill>
                    <a:srgbClr val="475569"/>
                  </a:solidFill>
                </a:rPr>
                <a:t> aplicado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 33">
              <a:extLst>
                <a:ext uri="{FF2B5EF4-FFF2-40B4-BE49-F238E27FC236}">
                  <a16:creationId xmlns:a16="http://schemas.microsoft.com/office/drawing/2014/main" id="{FBB2BC7E-EB90-3071-E5CF-FD87630AE93E}"/>
                </a:ext>
              </a:extLst>
            </p:cNvPr>
            <p:cNvSpPr/>
            <p:nvPr/>
          </p:nvSpPr>
          <p:spPr>
            <a:xfrm>
              <a:off x="3977259" y="4267514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OHE sobre 11 variables categóricas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0" name="Shape 27">
            <a:extLst>
              <a:ext uri="{FF2B5EF4-FFF2-40B4-BE49-F238E27FC236}">
                <a16:creationId xmlns:a16="http://schemas.microsoft.com/office/drawing/2014/main" id="{B60249E9-F123-C3AA-D1E0-856A9FD700CD}"/>
              </a:ext>
            </a:extLst>
          </p:cNvPr>
          <p:cNvSpPr/>
          <p:nvPr/>
        </p:nvSpPr>
        <p:spPr>
          <a:xfrm>
            <a:off x="6330295" y="2431542"/>
            <a:ext cx="2616794" cy="24271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51" name="Shape 28">
            <a:extLst>
              <a:ext uri="{FF2B5EF4-FFF2-40B4-BE49-F238E27FC236}">
                <a16:creationId xmlns:a16="http://schemas.microsoft.com/office/drawing/2014/main" id="{3435E2C0-5C0B-DFAB-3AE3-E1ED9DD279E0}"/>
              </a:ext>
            </a:extLst>
          </p:cNvPr>
          <p:cNvSpPr/>
          <p:nvPr/>
        </p:nvSpPr>
        <p:spPr>
          <a:xfrm>
            <a:off x="6423752" y="2306574"/>
            <a:ext cx="2568230" cy="7728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ES" dirty="0"/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6626F2CA-EC7B-0BA4-18C4-5394A7B3A2C0}"/>
              </a:ext>
            </a:extLst>
          </p:cNvPr>
          <p:cNvGrpSpPr/>
          <p:nvPr/>
        </p:nvGrpSpPr>
        <p:grpSpPr>
          <a:xfrm>
            <a:off x="6323076" y="2389346"/>
            <a:ext cx="2820924" cy="2394776"/>
            <a:chOff x="7285101" y="2475295"/>
            <a:chExt cx="1921607" cy="2394776"/>
          </a:xfrm>
        </p:grpSpPr>
        <p:sp>
          <p:nvSpPr>
            <p:cNvPr id="52" name="Text 29">
              <a:extLst>
                <a:ext uri="{FF2B5EF4-FFF2-40B4-BE49-F238E27FC236}">
                  <a16:creationId xmlns:a16="http://schemas.microsoft.com/office/drawing/2014/main" id="{2C5D47F2-C614-998B-8AAB-8C8AA17FF442}"/>
                </a:ext>
              </a:extLst>
            </p:cNvPr>
            <p:cNvSpPr/>
            <p:nvPr/>
          </p:nvSpPr>
          <p:spPr>
            <a:xfrm>
              <a:off x="7353681" y="2475295"/>
              <a:ext cx="1853027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100" b="1" noProof="0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Hallazgos</a:t>
              </a:r>
              <a:endParaRPr lang="es-ES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 30">
              <a:extLst>
                <a:ext uri="{FF2B5EF4-FFF2-40B4-BE49-F238E27FC236}">
                  <a16:creationId xmlns:a16="http://schemas.microsoft.com/office/drawing/2014/main" id="{62BCC1C8-99FA-E902-4D02-B0A3A4E03382}"/>
                </a:ext>
              </a:extLst>
            </p:cNvPr>
            <p:cNvSpPr/>
            <p:nvPr/>
          </p:nvSpPr>
          <p:spPr>
            <a:xfrm>
              <a:off x="7285101" y="2924937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1 de cada 6 registros tenía precios erróneos o negativos: hemos filtrado a rango 500–15000 €/m². El modelo no aprendía.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 30">
              <a:extLst>
                <a:ext uri="{FF2B5EF4-FFF2-40B4-BE49-F238E27FC236}">
                  <a16:creationId xmlns:a16="http://schemas.microsoft.com/office/drawing/2014/main" id="{64872CFE-04F6-8BB6-2567-04063C9A0808}"/>
                </a:ext>
              </a:extLst>
            </p:cNvPr>
            <p:cNvSpPr/>
            <p:nvPr/>
          </p:nvSpPr>
          <p:spPr>
            <a:xfrm>
              <a:off x="7285101" y="3306064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El 70% de los pisos tienen baja o muy baja demanda.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 30">
              <a:extLst>
                <a:ext uri="{FF2B5EF4-FFF2-40B4-BE49-F238E27FC236}">
                  <a16:creationId xmlns:a16="http://schemas.microsoft.com/office/drawing/2014/main" id="{9342B5C5-421B-5314-E52C-BBF90C555072}"/>
                </a:ext>
              </a:extLst>
            </p:cNvPr>
            <p:cNvSpPr/>
            <p:nvPr/>
          </p:nvSpPr>
          <p:spPr>
            <a:xfrm>
              <a:off x="7285101" y="3687191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Barrio/Distrito excluidos del OHE: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lat</a:t>
              </a:r>
              <a:r>
                <a:rPr lang="es-ES" sz="1000" noProof="0" dirty="0">
                  <a:solidFill>
                    <a:srgbClr val="475569"/>
                  </a:solidFill>
                </a:rPr>
                <a:t>/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lon</a:t>
              </a:r>
              <a:r>
                <a:rPr lang="es-ES" sz="1000" noProof="0" dirty="0">
                  <a:solidFill>
                    <a:srgbClr val="475569"/>
                  </a:solidFill>
                </a:rPr>
                <a:t> captura la misma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info</a:t>
              </a:r>
              <a:r>
                <a:rPr lang="es-ES" sz="1000" noProof="0" dirty="0">
                  <a:solidFill>
                    <a:srgbClr val="475569"/>
                  </a:solidFill>
                </a:rPr>
                <a:t> sin añadir ~80 columnas dispersas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 22">
              <a:extLst>
                <a:ext uri="{FF2B5EF4-FFF2-40B4-BE49-F238E27FC236}">
                  <a16:creationId xmlns:a16="http://schemas.microsoft.com/office/drawing/2014/main" id="{2FE7B1A9-4497-8579-08F2-5AA4F81F7E95}"/>
                </a:ext>
              </a:extLst>
            </p:cNvPr>
            <p:cNvSpPr/>
            <p:nvPr/>
          </p:nvSpPr>
          <p:spPr>
            <a:xfrm>
              <a:off x="7285101" y="4068318"/>
              <a:ext cx="1853027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Precio total excluido como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feature</a:t>
              </a:r>
              <a:endParaRPr lang="es-ES" sz="1000" noProof="0" dirty="0">
                <a:solidFill>
                  <a:srgbClr val="475569"/>
                </a:solidFill>
              </a:endParaRPr>
            </a:p>
          </p:txBody>
        </p:sp>
        <p:sp>
          <p:nvSpPr>
            <p:cNvPr id="57" name="Text 22">
              <a:extLst>
                <a:ext uri="{FF2B5EF4-FFF2-40B4-BE49-F238E27FC236}">
                  <a16:creationId xmlns:a16="http://schemas.microsoft.com/office/drawing/2014/main" id="{8C5C8B2E-42D6-CE9B-C1D0-830F1A2E2482}"/>
                </a:ext>
              </a:extLst>
            </p:cNvPr>
            <p:cNvSpPr/>
            <p:nvPr/>
          </p:nvSpPr>
          <p:spPr>
            <a:xfrm>
              <a:off x="7285101" y="4467735"/>
              <a:ext cx="1853027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Con 16 variables el modelo funciona aceptablemente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3550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Machine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1554480" cy="3200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/ 20%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cualquier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20240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020824" y="1097280"/>
            <a:ext cx="1554480" cy="3200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020824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20824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20824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→ Drop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precio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 filtrados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21024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3721608" y="1097280"/>
            <a:ext cx="1554480" cy="3200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721608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21608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(OHE)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21608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vars categóricas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dtype=int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21808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5422392" y="1097280"/>
            <a:ext cx="1554480" cy="3200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422392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22392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22392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(-1, 1)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 train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22592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7123176" y="1097280"/>
            <a:ext cx="1554480" cy="3200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123176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23176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23176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480560"/>
            <a:ext cx="85039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57200" y="448056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D5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El scaler se ajusta ÚNICAMENTE sobre train_set y se aplica al test_set — evitando data leakage.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Comparativa de Modelos</a:t>
            </a:r>
            <a:endParaRPr lang="en-US" sz="2400" dirty="0"/>
          </a:p>
        </p:txBody>
      </p:sp>
      <p:graphicFrame>
        <p:nvGraphicFramePr>
          <p:cNvPr id="21" name="Table 0">
            <a:extLst>
              <a:ext uri="{FF2B5EF4-FFF2-40B4-BE49-F238E27FC236}">
                <a16:creationId xmlns:a16="http://schemas.microsoft.com/office/drawing/2014/main" id="{A2A66078-A1EE-59B0-5F73-75A4CFC60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177694"/>
              </p:ext>
            </p:extLst>
          </p:nvPr>
        </p:nvGraphicFramePr>
        <p:xfrm>
          <a:off x="601784" y="1584177"/>
          <a:ext cx="7784581" cy="2099251"/>
        </p:xfrm>
        <a:graphic>
          <a:graphicData uri="http://schemas.openxmlformats.org/drawingml/2006/table">
            <a:tbl>
              <a:tblPr/>
              <a:tblGrid>
                <a:gridCol w="2484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Train RMSE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Regresión Lineal (baseline)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1.141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1.129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824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0.294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Árbol de Decisión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866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0.493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0.775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XGBoost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562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0.722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/>
                        <a:t>Random Forest Tuned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kern="1200" dirty="0">
                          <a:solidFill>
                            <a:srgbClr val="94A3B8"/>
                          </a:solidFill>
                          <a:latin typeface="+mn-lt"/>
                          <a:ea typeface="+mn-ea"/>
                          <a:cs typeface="+mn-cs"/>
                        </a:rPr>
                        <a:t>523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729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494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0.706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09775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🏆  XGBoost Tuned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182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~588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~378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~0.809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Text 30">
            <a:extLst>
              <a:ext uri="{FF2B5EF4-FFF2-40B4-BE49-F238E27FC236}">
                <a16:creationId xmlns:a16="http://schemas.microsoft.com/office/drawing/2014/main" id="{91C4992F-17B2-0435-5B5F-F7B793DEC19E}"/>
              </a:ext>
            </a:extLst>
          </p:cNvPr>
          <p:cNvSpPr/>
          <p:nvPr/>
        </p:nvSpPr>
        <p:spPr>
          <a:xfrm>
            <a:off x="396685" y="3540264"/>
            <a:ext cx="7078702" cy="15155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GB" sz="700" b="1" noProof="0" dirty="0">
                <a:latin typeface="Arial" panose="020B0604020202020204" pitchFamily="34" charset="0"/>
                <a:cs typeface="Arial" panose="020B0604020202020204" pitchFamily="34" charset="0"/>
              </a:rPr>
              <a:t>Insights: 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noProof="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Demanda Muy baja es la variable más importante (21%): estos pisos tienden a tener precios más altos, lo que puede implicar predicciones al alza.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Ausencia de AC (14%) y Ascensor (9%) son la segunda y tercera </a:t>
            </a:r>
            <a:r>
              <a:rPr lang="es-ES" sz="700" dirty="0" err="1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más % de la varianza explica. La ausencia de estas comodidades se suele asociar a precios más bajos.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Latitud (5%)  /Longitud (5%) explican de manera combinada el 10% de la varianza. La ubicación es relevante para el precio, pero no dominante.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Baños (8%), dormitorios (5%) y Superficie (5%) de manera combinada pesan más que la ubicación.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10972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77240" y="36576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097280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68680" y="117043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13385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es el mejor modelo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426464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aprox. 0.82, RMSE aprox. 310 EUR/m2 — captura la no-linealidad del mercado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865376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68680" y="193852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190195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ubicacion es el factor #1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Latitud/Longitud + Barrio explican ~50% de la importancia total del modelo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2633472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68680" y="270662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6700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superficie es critica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7320" y="2962656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continua más importante después de la localización geográfica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401568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868680" y="347472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34381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outliers distorsionan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17320" y="37307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filtrado de precios extremos (500-15.000 EUR/m2) mejoro la calidad del analisis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4169664"/>
            <a:ext cx="8046720" cy="676656"/>
          </a:xfrm>
          <a:prstGeom prst="rect">
            <a:avLst/>
          </a:prstGeom>
          <a:solidFill>
            <a:srgbClr val="1E2F50"/>
          </a:solidFill>
          <a:ln w="12700">
            <a:solidFill>
              <a:srgbClr val="2A3F6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868680" y="424281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420624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17320" y="44988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Optimizacion de hiperparametros (GridSearch), anadir antiguedad y certificacion energetica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69C4B-AC3E-4562-31CD-C84F255D7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495F34-905F-E0A1-697A-5D666402577B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EB8050-8E9D-E431-F2E4-ED36DA6454BA}"/>
              </a:ext>
            </a:extLst>
          </p:cNvPr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8F6756-D8D2-1260-6E41-7042566611DB}"/>
              </a:ext>
            </a:extLst>
          </p:cNvPr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</a:t>
            </a:r>
            <a:endParaRPr lang="en-US" sz="5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355A41-8D7D-21D2-3E69-F4A2EBD323F6}"/>
              </a:ext>
            </a:extLst>
          </p:cNvPr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8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 Inmobiliario en Valencia</a:t>
            </a:r>
            <a:endParaRPr lang="en-US" sz="18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59EEF4D-AAD4-8F0C-67F7-85780AA78A25}"/>
              </a:ext>
            </a:extLst>
          </p:cNvPr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Feature Engineering · Random Forest · Valencia 2025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81CE660-43BA-421D-4588-0B94E53CD780}"/>
              </a:ext>
            </a:extLst>
          </p:cNvPr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github.com/Apriroca/ML_Prediccion_Vivienda_Valencia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69360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8ABFF-7BC5-7D6C-BF09-A23ED825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EA69C9-BB22-90BF-A733-D9F1109D312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DE1628-F668-2E11-446A-5B8744ED9CCB}"/>
              </a:ext>
            </a:extLst>
          </p:cNvPr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Comparativa de Modelos</a:t>
            </a:r>
            <a:endParaRPr lang="en-US" sz="24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9342B014-AD37-3797-9141-6927D625C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85173"/>
              </p:ext>
            </p:extLst>
          </p:nvPr>
        </p:nvGraphicFramePr>
        <p:xfrm>
          <a:off x="0" y="1120140"/>
          <a:ext cx="9144000" cy="160934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(€/m²)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 notable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🏆 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Mejor 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2A3869A1-1200-775F-F1B5-801BA46787D8}"/>
              </a:ext>
            </a:extLst>
          </p:cNvPr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— Random Forest</a:t>
            </a:r>
            <a:endParaRPr lang="en-US" sz="1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E05D144-4F72-0639-6186-A845F05FE00E}"/>
              </a:ext>
            </a:extLst>
          </p:cNvPr>
          <p:cNvSpPr/>
          <p:nvPr/>
        </p:nvSpPr>
        <p:spPr>
          <a:xfrm>
            <a:off x="457200" y="3520440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 / Longitud</a:t>
            </a:r>
            <a:endParaRPr lang="en-US" sz="1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F05F4BF-7E7F-1C0B-B9D1-79B4C164EB7C}"/>
              </a:ext>
            </a:extLst>
          </p:cNvPr>
          <p:cNvSpPr/>
          <p:nvPr/>
        </p:nvSpPr>
        <p:spPr>
          <a:xfrm>
            <a:off x="2514600" y="3557016"/>
            <a:ext cx="2194560" cy="1828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D177492D-4DDA-FEBB-295E-63D0B0E4CF83}"/>
              </a:ext>
            </a:extLst>
          </p:cNvPr>
          <p:cNvSpPr/>
          <p:nvPr/>
        </p:nvSpPr>
        <p:spPr>
          <a:xfrm>
            <a:off x="4800600" y="3520440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33A4400-D1A0-29A0-64E5-FC7A26B218F6}"/>
              </a:ext>
            </a:extLst>
          </p:cNvPr>
          <p:cNvSpPr/>
          <p:nvPr/>
        </p:nvSpPr>
        <p:spPr>
          <a:xfrm>
            <a:off x="457200" y="3813048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Superficie</a:t>
            </a:r>
            <a:endParaRPr lang="en-US" sz="10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B10DD300-F64A-FF19-8AD0-823AA6036979}"/>
              </a:ext>
            </a:extLst>
          </p:cNvPr>
          <p:cNvSpPr/>
          <p:nvPr/>
        </p:nvSpPr>
        <p:spPr>
          <a:xfrm>
            <a:off x="2514600" y="3849624"/>
            <a:ext cx="1714500" cy="1828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3A689D9-1E10-1BF5-88BF-D3C0014F5F97}"/>
              </a:ext>
            </a:extLst>
          </p:cNvPr>
          <p:cNvSpPr/>
          <p:nvPr/>
        </p:nvSpPr>
        <p:spPr>
          <a:xfrm>
            <a:off x="4320540" y="3813048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14FCE1C-6641-4CB3-AFC9-04A41F1804FB}"/>
              </a:ext>
            </a:extLst>
          </p:cNvPr>
          <p:cNvSpPr/>
          <p:nvPr/>
        </p:nvSpPr>
        <p:spPr>
          <a:xfrm>
            <a:off x="457200" y="4105656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Barrio (OHE)</a:t>
            </a:r>
            <a:endParaRPr lang="en-US" sz="10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415AD2F-B4D5-D59E-0EFD-07FA93AC01A2}"/>
              </a:ext>
            </a:extLst>
          </p:cNvPr>
          <p:cNvSpPr/>
          <p:nvPr/>
        </p:nvSpPr>
        <p:spPr>
          <a:xfrm>
            <a:off x="2514600" y="4142232"/>
            <a:ext cx="1234440" cy="18288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308897B-42D8-92D3-A6DB-4C453DE53073}"/>
              </a:ext>
            </a:extLst>
          </p:cNvPr>
          <p:cNvSpPr/>
          <p:nvPr/>
        </p:nvSpPr>
        <p:spPr>
          <a:xfrm>
            <a:off x="3840480" y="4105656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0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708B6BB-9713-6A9A-7EDB-C607C554A94B}"/>
              </a:ext>
            </a:extLst>
          </p:cNvPr>
          <p:cNvSpPr/>
          <p:nvPr/>
        </p:nvSpPr>
        <p:spPr>
          <a:xfrm>
            <a:off x="457200" y="4398264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Baños</a:t>
            </a:r>
            <a:endParaRPr lang="en-US" sz="10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61C803A-DF42-8F55-AEBA-0C9AFEA86541}"/>
              </a:ext>
            </a:extLst>
          </p:cNvPr>
          <p:cNvSpPr/>
          <p:nvPr/>
        </p:nvSpPr>
        <p:spPr>
          <a:xfrm>
            <a:off x="2514600" y="4434840"/>
            <a:ext cx="822960" cy="18288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464375A-CDB3-3DE6-5646-E64CFF1B63D5}"/>
              </a:ext>
            </a:extLst>
          </p:cNvPr>
          <p:cNvSpPr/>
          <p:nvPr/>
        </p:nvSpPr>
        <p:spPr>
          <a:xfrm>
            <a:off x="3429000" y="4398264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E95EA2F-BF99-0BB8-608C-FB0AE3187FD5}"/>
              </a:ext>
            </a:extLst>
          </p:cNvPr>
          <p:cNvSpPr/>
          <p:nvPr/>
        </p:nvSpPr>
        <p:spPr>
          <a:xfrm>
            <a:off x="457200" y="4690872"/>
            <a:ext cx="2011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Dormitorios</a:t>
            </a:r>
            <a:endParaRPr lang="en-US" sz="10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0AFE9B3E-5430-DE6F-8CA7-F292F453D2EC}"/>
              </a:ext>
            </a:extLst>
          </p:cNvPr>
          <p:cNvSpPr/>
          <p:nvPr/>
        </p:nvSpPr>
        <p:spPr>
          <a:xfrm>
            <a:off x="2514600" y="4727448"/>
            <a:ext cx="548640" cy="182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13B263F-6F51-2D54-A86F-39C639FAF93F}"/>
              </a:ext>
            </a:extLst>
          </p:cNvPr>
          <p:cNvSpPr/>
          <p:nvPr/>
        </p:nvSpPr>
        <p:spPr>
          <a:xfrm>
            <a:off x="3154680" y="4690872"/>
            <a:ext cx="457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07589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73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8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 Inmobiliario en Valencia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Feature Engineering · Random Forest · Valencia 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github.com/Apriroca/ML_Prediccion_Vivienda_Valencia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890</Words>
  <Application>Microsoft Office PowerPoint</Application>
  <PresentationFormat>Affichage à l'écran (16:9)</PresentationFormat>
  <Paragraphs>201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del Mercado Inmobiliario en Valencia</dc:title>
  <dc:subject>PptxGenJS Presentation</dc:subject>
  <dc:creator>PptxGenJS</dc:creator>
  <cp:lastModifiedBy>anais dethy</cp:lastModifiedBy>
  <cp:revision>6</cp:revision>
  <dcterms:created xsi:type="dcterms:W3CDTF">2026-03-03T12:03:14Z</dcterms:created>
  <dcterms:modified xsi:type="dcterms:W3CDTF">2026-03-04T16:35:32Z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a7ed875-cb67-40d7-9ea6-a804b08b1148_Enabled">
    <vt:lpwstr>true</vt:lpwstr>
  </property>
  <property fmtid="{D5CDD505-2E9C-101B-9397-08002B2CF9AE}" pid="3" name="MSIP_Label_9a7ed875-cb67-40d7-9ea6-a804b08b1148_SetDate">
    <vt:lpwstr>2026-03-03T17:11:24Z</vt:lpwstr>
  </property>
  <property fmtid="{D5CDD505-2E9C-101B-9397-08002B2CF9AE}" pid="4" name="MSIP_Label_9a7ed875-cb67-40d7-9ea6-a804b08b1148_Method">
    <vt:lpwstr>Privileged</vt:lpwstr>
  </property>
  <property fmtid="{D5CDD505-2E9C-101B-9397-08002B2CF9AE}" pid="5" name="MSIP_Label_9a7ed875-cb67-40d7-9ea6-a804b08b1148_Name">
    <vt:lpwstr>9a7ed875-cb67-40d7-9ea6-a804b08b1148</vt:lpwstr>
  </property>
  <property fmtid="{D5CDD505-2E9C-101B-9397-08002B2CF9AE}" pid="6" name="MSIP_Label_9a7ed875-cb67-40d7-9ea6-a804b08b1148_SiteId">
    <vt:lpwstr>473672ba-cd07-4371-a2ae-788b4c61840e</vt:lpwstr>
  </property>
  <property fmtid="{D5CDD505-2E9C-101B-9397-08002B2CF9AE}" pid="7" name="MSIP_Label_9a7ed875-cb67-40d7-9ea6-a804b08b1148_ActionId">
    <vt:lpwstr>7923104a-5530-4b33-8ef6-340fbde25c0b</vt:lpwstr>
  </property>
  <property fmtid="{D5CDD505-2E9C-101B-9397-08002B2CF9AE}" pid="8" name="MSIP_Label_9a7ed875-cb67-40d7-9ea6-a804b08b1148_ContentBits">
    <vt:lpwstr>0</vt:lpwstr>
  </property>
  <property fmtid="{D5CDD505-2E9C-101B-9397-08002B2CF9AE}" pid="9" name="MSIP_Label_9a7ed875-cb67-40d7-9ea6-a804b08b1148_Tag">
    <vt:lpwstr>10, 0, 1, 1</vt:lpwstr>
  </property>
</Properties>
</file>