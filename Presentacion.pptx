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7" r:id="rId5"/>
    <p:sldId id="261" r:id="rId6"/>
    <p:sldId id="262" r:id="rId7"/>
    <p:sldId id="260" r:id="rId8"/>
    <p:sldId id="264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8138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932CE-3878-AAB4-0893-BEA4EEB6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CACB51-DCB7-3411-0539-A6908AC57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25AEC7-959C-C478-4EEB-866CE60E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7AA3CD-673D-53B5-8E93-FA1114FAAE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06812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870F1-343C-8944-302E-07B0C0293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5BDDE-871B-ADCC-9341-B5EA774F4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807E6-0372-4835-90A4-A75EA760248B}" type="datetimeFigureOut">
              <a:rPr lang="es-ES" smtClean="0"/>
              <a:t>04/03/2026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1318E4-2B79-8C5F-5D0D-67923920E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DBB544-C864-4F5B-1CA9-43FFC534A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C8B36-D48C-4A58-A81E-C9657099A1DB}" type="slidenum">
              <a:rPr lang="es-ES" smtClean="0"/>
              <a:t>‹N°›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47136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320040" y="0"/>
            <a:ext cx="109728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77240" y="73152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 en Valencia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7724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y Predicción de Precios con Machine Learning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7724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274320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916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1737360" cy="365760"/>
          </a:xfrm>
          <a:prstGeom prst="roundRect">
            <a:avLst>
              <a:gd name="adj" fmla="val 25000"/>
            </a:avLst>
          </a:prstGeom>
          <a:solidFill>
            <a:srgbClr val="0D7377">
              <a:alpha val="70000"/>
            </a:srgbClr>
          </a:solidFill>
          <a:ln w="12700">
            <a:solidFill>
              <a:srgbClr val="14A5A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Valencia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2192E"/>
          </a:solidFill>
          <a:ln w="12700">
            <a:solidFill>
              <a:srgbClr val="1219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77724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- Bootcamp Data Science - </a:t>
            </a:r>
            <a:r>
              <a:rPr lang="es-ES" sz="1100" b="1" dirty="0">
                <a:solidFill>
                  <a:schemeClr val="bg1"/>
                </a:solidFill>
              </a:rPr>
              <a:t>Ana Prieto, Anaïs Dethy y Gabriel López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analizar el mercado inmobiliario valenciano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8230" y="2427463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5" name="Shape 13"/>
          <p:cNvSpPr/>
          <p:nvPr/>
        </p:nvSpPr>
        <p:spPr>
          <a:xfrm>
            <a:off x="365760" y="2427463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6" name="Text 14"/>
          <p:cNvSpPr/>
          <p:nvPr/>
        </p:nvSpPr>
        <p:spPr>
          <a:xfrm>
            <a:off x="502920" y="2473183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2920" y="2793223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308583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outliers, correlaciones y mapas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666206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365760" y="3666206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02920" y="3711926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02920" y="403196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cs typeface="Calibri" pitchFamily="34" charset="-120"/>
              </a:rPr>
              <a:t>Pipeline de Machine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32457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Lineal, Árbol de Decisión y Random Forest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65638" y="118872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4765638" y="118872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902798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902798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Métricas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02798" y="184708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RMSE, MAE, R² y comparativa de modelos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65638" y="2423160"/>
            <a:ext cx="41148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765638" y="2423160"/>
            <a:ext cx="73152" cy="100584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902798" y="24688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902798" y="27889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02798" y="308152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clave del precio y próximos pasos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y Objetivos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303520" cy="3474720"/>
          </a:xfrm>
          <a:prstGeom prst="rect">
            <a:avLst/>
          </a:prstGeom>
          <a:solidFill>
            <a:srgbClr val="F5F0E8"/>
          </a:solidFill>
          <a:ln w="12700">
            <a:solidFill>
              <a:srgbClr val="D8D0C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Valencia?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inmobiliario valenciano ha experimentado un auge sostenido, con subidas del precio por m² superiores al 10% anual en determinados distritos.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Inversores y compradores necesitan herramientas basadas en datos para tomar decisiones informadas.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disponibilidad de datos de múltiples portales (Fotocasa, Habitaclia, Milanuncios) permite un análisis rico y representativo.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188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1691640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6035040" y="1728216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 EDA profundo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35040" y="2039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Patrones, outliers y correlaciones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496312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6035040" y="253288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 Limpieza de datos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84378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y precios unitarios extremos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3300984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6035040" y="333756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 Feature Engineering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364845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clave: ubicación, superficie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4105656"/>
            <a:ext cx="2926080" cy="713232"/>
          </a:xfrm>
          <a:prstGeom prst="rect">
            <a:avLst/>
          </a:prstGeom>
          <a:solidFill>
            <a:srgbClr val="E8ECF0"/>
          </a:solidFill>
          <a:ln w="12700">
            <a:solidFill>
              <a:srgbClr val="D1D9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6035040" y="4142232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 Modelado predictivo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4531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como modelo final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76A7-A0A7-66D3-C485-2762BDB0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C43114-6D55-DD9D-7B9D-560BF10BC0B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2337F29-F4FE-59C3-0D20-7C278420C717}"/>
              </a:ext>
            </a:extLst>
          </p:cNvPr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Análisis Exploratorio de Datos</a:t>
            </a:r>
            <a:endParaRPr lang="en-US" sz="2400" dirty="0"/>
          </a:p>
        </p:txBody>
      </p:sp>
      <p:sp>
        <p:nvSpPr>
          <p:cNvPr id="21" name="Shape 28">
            <a:extLst>
              <a:ext uri="{FF2B5EF4-FFF2-40B4-BE49-F238E27FC236}">
                <a16:creationId xmlns:a16="http://schemas.microsoft.com/office/drawing/2014/main" id="{880B1733-225F-1AA1-BA3D-7A0A17A15196}"/>
              </a:ext>
            </a:extLst>
          </p:cNvPr>
          <p:cNvSpPr/>
          <p:nvPr/>
        </p:nvSpPr>
        <p:spPr>
          <a:xfrm>
            <a:off x="152018" y="2306573"/>
            <a:ext cx="3316415" cy="77281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52DEEB70-64E4-ECD7-8DB7-EF59B6782D87}"/>
              </a:ext>
            </a:extLst>
          </p:cNvPr>
          <p:cNvGrpSpPr/>
          <p:nvPr/>
        </p:nvGrpSpPr>
        <p:grpSpPr>
          <a:xfrm>
            <a:off x="84681" y="2425446"/>
            <a:ext cx="2905506" cy="2468880"/>
            <a:chOff x="152019" y="2306574"/>
            <a:chExt cx="3550920" cy="2468880"/>
          </a:xfrm>
        </p:grpSpPr>
        <p:sp>
          <p:nvSpPr>
            <p:cNvPr id="20" name="Shape 27">
              <a:extLst>
                <a:ext uri="{FF2B5EF4-FFF2-40B4-BE49-F238E27FC236}">
                  <a16:creationId xmlns:a16="http://schemas.microsoft.com/office/drawing/2014/main" id="{3B7E7531-5191-BFBF-1771-E2FE1171E439}"/>
                </a:ext>
              </a:extLst>
            </p:cNvPr>
            <p:cNvSpPr/>
            <p:nvPr/>
          </p:nvSpPr>
          <p:spPr>
            <a:xfrm>
              <a:off x="15201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n-GB" noProof="0" dirty="0"/>
            </a:p>
          </p:txBody>
        </p:sp>
        <p:sp>
          <p:nvSpPr>
            <p:cNvPr id="22" name="Text 29">
              <a:extLst>
                <a:ext uri="{FF2B5EF4-FFF2-40B4-BE49-F238E27FC236}">
                  <a16:creationId xmlns:a16="http://schemas.microsoft.com/office/drawing/2014/main" id="{93FFBB18-1B9F-AE4A-CE6B-C75CAFB7CDF6}"/>
                </a:ext>
              </a:extLst>
            </p:cNvPr>
            <p:cNvSpPr/>
            <p:nvPr/>
          </p:nvSpPr>
          <p:spPr>
            <a:xfrm>
              <a:off x="28917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100" b="1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¿Por qué aprendizaje supervisado?</a:t>
              </a:r>
              <a:endParaRPr lang="en-US" sz="11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 30">
              <a:extLst>
                <a:ext uri="{FF2B5EF4-FFF2-40B4-BE49-F238E27FC236}">
                  <a16:creationId xmlns:a16="http://schemas.microsoft.com/office/drawing/2014/main" id="{E3AE8C01-2695-E697-3CB6-7CEE575CE860}"/>
                </a:ext>
              </a:extLst>
            </p:cNvPr>
            <p:cNvSpPr/>
            <p:nvPr/>
          </p:nvSpPr>
          <p:spPr>
            <a:xfrm>
              <a:off x="28917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Tenemos una variable objetivo: Precio unitario (€/m²) TARGET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Text 31">
              <a:extLst>
                <a:ext uri="{FF2B5EF4-FFF2-40B4-BE49-F238E27FC236}">
                  <a16:creationId xmlns:a16="http://schemas.microsoft.com/office/drawing/2014/main" id="{79E3C6C5-8DBD-81FD-3B34-8087F243BD09}"/>
                </a:ext>
              </a:extLst>
            </p:cNvPr>
            <p:cNvSpPr/>
            <p:nvPr/>
          </p:nvSpPr>
          <p:spPr>
            <a:xfrm>
              <a:off x="289179" y="3275838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Datos etiquetados con precios de oferta de venta de viviendas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Text 32">
              <a:extLst>
                <a:ext uri="{FF2B5EF4-FFF2-40B4-BE49-F238E27FC236}">
                  <a16:creationId xmlns:a16="http://schemas.microsoft.com/office/drawing/2014/main" id="{8EEB34D3-6B97-9CA5-B0A2-1DD354EE0751}"/>
                </a:ext>
              </a:extLst>
            </p:cNvPr>
            <p:cNvSpPr/>
            <p:nvPr/>
          </p:nvSpPr>
          <p:spPr>
            <a:xfrm>
              <a:off x="289179" y="3714750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Problema de regresión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Text 33">
              <a:extLst>
                <a:ext uri="{FF2B5EF4-FFF2-40B4-BE49-F238E27FC236}">
                  <a16:creationId xmlns:a16="http://schemas.microsoft.com/office/drawing/2014/main" id="{50130794-0F89-28CA-5F06-8665516A5606}"/>
                </a:ext>
              </a:extLst>
            </p:cNvPr>
            <p:cNvSpPr/>
            <p:nvPr/>
          </p:nvSpPr>
          <p:spPr>
            <a:xfrm>
              <a:off x="289179" y="4153662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Suficiente volumen: 13.669 registros tras limpieza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Group 22">
            <a:extLst>
              <a:ext uri="{FF2B5EF4-FFF2-40B4-BE49-F238E27FC236}">
                <a16:creationId xmlns:a16="http://schemas.microsoft.com/office/drawing/2014/main" id="{FB4FF3F8-D181-2B58-15E3-C7E144D54F29}"/>
              </a:ext>
            </a:extLst>
          </p:cNvPr>
          <p:cNvGrpSpPr/>
          <p:nvPr/>
        </p:nvGrpSpPr>
        <p:grpSpPr>
          <a:xfrm>
            <a:off x="390144" y="1155764"/>
            <a:ext cx="1965960" cy="822960"/>
            <a:chOff x="760476" y="1708024"/>
            <a:chExt cx="1965960" cy="8229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6EB8A4BE-888B-F620-615D-CD259D96E456}"/>
                </a:ext>
              </a:extLst>
            </p:cNvPr>
            <p:cNvSpPr/>
            <p:nvPr/>
          </p:nvSpPr>
          <p:spPr>
            <a:xfrm>
              <a:off x="760476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32AFBC59-8D8B-123A-6CFE-6B55E93E51D8}"/>
                </a:ext>
              </a:extLst>
            </p:cNvPr>
            <p:cNvSpPr/>
            <p:nvPr/>
          </p:nvSpPr>
          <p:spPr>
            <a:xfrm>
              <a:off x="760476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24000</a:t>
              </a:r>
              <a:endParaRPr lang="en-US" sz="2200" dirty="0"/>
            </a:p>
          </p:txBody>
        </p:sp>
        <p:sp>
          <p:nvSpPr>
            <p:cNvPr id="30" name="Text 5">
              <a:extLst>
                <a:ext uri="{FF2B5EF4-FFF2-40B4-BE49-F238E27FC236}">
                  <a16:creationId xmlns:a16="http://schemas.microsoft.com/office/drawing/2014/main" id="{A16C1F76-6FEE-AB4B-200F-616B15F63D1D}"/>
                </a:ext>
              </a:extLst>
            </p:cNvPr>
            <p:cNvSpPr/>
            <p:nvPr/>
          </p:nvSpPr>
          <p:spPr>
            <a:xfrm>
              <a:off x="760476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registros brutos</a:t>
              </a:r>
              <a:endParaRPr lang="en-US" sz="900" dirty="0"/>
            </a:p>
          </p:txBody>
        </p:sp>
      </p:grpSp>
      <p:sp>
        <p:nvSpPr>
          <p:cNvPr id="31" name="Shape 6">
            <a:extLst>
              <a:ext uri="{FF2B5EF4-FFF2-40B4-BE49-F238E27FC236}">
                <a16:creationId xmlns:a16="http://schemas.microsoft.com/office/drawing/2014/main" id="{10572ABF-A52F-EE40-5496-66632028866E}"/>
              </a:ext>
            </a:extLst>
          </p:cNvPr>
          <p:cNvSpPr/>
          <p:nvPr/>
        </p:nvSpPr>
        <p:spPr>
          <a:xfrm>
            <a:off x="2606040" y="1155764"/>
            <a:ext cx="1965960" cy="82296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grpSp>
        <p:nvGrpSpPr>
          <p:cNvPr id="32" name="Group 24">
            <a:extLst>
              <a:ext uri="{FF2B5EF4-FFF2-40B4-BE49-F238E27FC236}">
                <a16:creationId xmlns:a16="http://schemas.microsoft.com/office/drawing/2014/main" id="{AFBAE53F-08CA-8D5A-9685-87CF5E27BB37}"/>
              </a:ext>
            </a:extLst>
          </p:cNvPr>
          <p:cNvGrpSpPr/>
          <p:nvPr/>
        </p:nvGrpSpPr>
        <p:grpSpPr>
          <a:xfrm>
            <a:off x="4696206" y="1149730"/>
            <a:ext cx="1965960" cy="822960"/>
            <a:chOff x="5113020" y="1708024"/>
            <a:chExt cx="1965960" cy="822960"/>
          </a:xfrm>
        </p:grpSpPr>
        <p:sp>
          <p:nvSpPr>
            <p:cNvPr id="33" name="Shape 9">
              <a:extLst>
                <a:ext uri="{FF2B5EF4-FFF2-40B4-BE49-F238E27FC236}">
                  <a16:creationId xmlns:a16="http://schemas.microsoft.com/office/drawing/2014/main" id="{354D67C0-E041-66B9-79E4-2F66CB12F702}"/>
                </a:ext>
              </a:extLst>
            </p:cNvPr>
            <p:cNvSpPr/>
            <p:nvPr/>
          </p:nvSpPr>
          <p:spPr>
            <a:xfrm>
              <a:off x="5113020" y="170802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4" name="Text 10">
              <a:extLst>
                <a:ext uri="{FF2B5EF4-FFF2-40B4-BE49-F238E27FC236}">
                  <a16:creationId xmlns:a16="http://schemas.microsoft.com/office/drawing/2014/main" id="{24BB067A-D059-B03D-20F7-FCFC87353362}"/>
                </a:ext>
              </a:extLst>
            </p:cNvPr>
            <p:cNvSpPr/>
            <p:nvPr/>
          </p:nvSpPr>
          <p:spPr>
            <a:xfrm>
              <a:off x="5113020" y="172631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16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5" name="Text 11">
              <a:extLst>
                <a:ext uri="{FF2B5EF4-FFF2-40B4-BE49-F238E27FC236}">
                  <a16:creationId xmlns:a16="http://schemas.microsoft.com/office/drawing/2014/main" id="{4C76437E-DEBE-C9F7-85CA-AB3EF5F33B12}"/>
                </a:ext>
              </a:extLst>
            </p:cNvPr>
            <p:cNvSpPr/>
            <p:nvPr/>
          </p:nvSpPr>
          <p:spPr>
            <a:xfrm>
              <a:off x="5113020" y="218351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features finales</a:t>
              </a:r>
              <a:endParaRPr lang="en-US" sz="900" dirty="0"/>
            </a:p>
          </p:txBody>
        </p:sp>
      </p:grpSp>
      <p:grpSp>
        <p:nvGrpSpPr>
          <p:cNvPr id="36" name="Group 25">
            <a:extLst>
              <a:ext uri="{FF2B5EF4-FFF2-40B4-BE49-F238E27FC236}">
                <a16:creationId xmlns:a16="http://schemas.microsoft.com/office/drawing/2014/main" id="{A964456B-2B0E-43AD-FCE8-5B623424D3A1}"/>
              </a:ext>
            </a:extLst>
          </p:cNvPr>
          <p:cNvGrpSpPr/>
          <p:nvPr/>
        </p:nvGrpSpPr>
        <p:grpSpPr>
          <a:xfrm>
            <a:off x="6814189" y="1145096"/>
            <a:ext cx="1965960" cy="822960"/>
            <a:chOff x="4912237" y="1089914"/>
            <a:chExt cx="1965960" cy="822960"/>
          </a:xfrm>
        </p:grpSpPr>
        <p:sp>
          <p:nvSpPr>
            <p:cNvPr id="37" name="Shape 12">
              <a:extLst>
                <a:ext uri="{FF2B5EF4-FFF2-40B4-BE49-F238E27FC236}">
                  <a16:creationId xmlns:a16="http://schemas.microsoft.com/office/drawing/2014/main" id="{E9AE1E22-0BBD-7211-49D2-5DC3ACDD5355}"/>
                </a:ext>
              </a:extLst>
            </p:cNvPr>
            <p:cNvSpPr/>
            <p:nvPr/>
          </p:nvSpPr>
          <p:spPr>
            <a:xfrm>
              <a:off x="4912237" y="1089914"/>
              <a:ext cx="1965960" cy="822960"/>
            </a:xfrm>
            <a:prstGeom prst="rect">
              <a:avLst/>
            </a:prstGeom>
            <a:solidFill>
              <a:schemeClr val="bg1">
                <a:lumMod val="95000"/>
                <a:alpha val="12000"/>
              </a:schemeClr>
            </a:solidFill>
            <a:ln w="12700">
              <a:solidFill>
                <a:schemeClr val="tx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38" name="Text 13">
              <a:extLst>
                <a:ext uri="{FF2B5EF4-FFF2-40B4-BE49-F238E27FC236}">
                  <a16:creationId xmlns:a16="http://schemas.microsoft.com/office/drawing/2014/main" id="{A1699188-950F-7D70-97CA-CDCFE9A19864}"/>
                </a:ext>
              </a:extLst>
            </p:cNvPr>
            <p:cNvSpPr/>
            <p:nvPr/>
          </p:nvSpPr>
          <p:spPr>
            <a:xfrm>
              <a:off x="4912237" y="1108202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2563EB"/>
                  </a:solidFill>
                </a:rPr>
                <a:t>4</a:t>
              </a:r>
              <a:endParaRPr lang="en-US" sz="2200" dirty="0">
                <a:solidFill>
                  <a:srgbClr val="2563EB"/>
                </a:solidFill>
              </a:endParaRPr>
            </a:p>
          </p:txBody>
        </p:sp>
        <p:sp>
          <p:nvSpPr>
            <p:cNvPr id="39" name="Text 14">
              <a:extLst>
                <a:ext uri="{FF2B5EF4-FFF2-40B4-BE49-F238E27FC236}">
                  <a16:creationId xmlns:a16="http://schemas.microsoft.com/office/drawing/2014/main" id="{8E83F3D4-A7DC-9FCD-B255-B315F39B874F}"/>
                </a:ext>
              </a:extLst>
            </p:cNvPr>
            <p:cNvSpPr/>
            <p:nvPr/>
          </p:nvSpPr>
          <p:spPr>
            <a:xfrm>
              <a:off x="4912237" y="1565402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475569"/>
                  </a:solidFill>
                </a:rPr>
                <a:t>modelos comparados</a:t>
              </a:r>
              <a:endParaRPr lang="en-US" sz="900" dirty="0"/>
            </a:p>
          </p:txBody>
        </p:sp>
      </p:grpSp>
      <p:sp>
        <p:nvSpPr>
          <p:cNvPr id="40" name="Text 7">
            <a:extLst>
              <a:ext uri="{FF2B5EF4-FFF2-40B4-BE49-F238E27FC236}">
                <a16:creationId xmlns:a16="http://schemas.microsoft.com/office/drawing/2014/main" id="{2851165A-C4A2-C301-3682-E49AB227CB97}"/>
              </a:ext>
            </a:extLst>
          </p:cNvPr>
          <p:cNvSpPr/>
          <p:nvPr/>
        </p:nvSpPr>
        <p:spPr>
          <a:xfrm>
            <a:off x="2650236" y="1194878"/>
            <a:ext cx="1877568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563EB"/>
                </a:solidFill>
              </a:rPr>
              <a:t>13669</a:t>
            </a:r>
            <a:endParaRPr lang="en-US" sz="2200" dirty="0">
              <a:solidFill>
                <a:srgbClr val="2563EB"/>
              </a:solidFill>
            </a:endParaRPr>
          </a:p>
        </p:txBody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95991D3D-C7FC-AA56-6CAC-448A134DC4C0}"/>
              </a:ext>
            </a:extLst>
          </p:cNvPr>
          <p:cNvSpPr/>
          <p:nvPr/>
        </p:nvSpPr>
        <p:spPr>
          <a:xfrm>
            <a:off x="2650236" y="1632997"/>
            <a:ext cx="1877568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</a:rPr>
              <a:t>tras limpieza</a:t>
            </a:r>
            <a:endParaRPr lang="en-US" sz="900" dirty="0"/>
          </a:p>
        </p:txBody>
      </p:sp>
      <p:sp>
        <p:nvSpPr>
          <p:cNvPr id="43" name="Shape 28">
            <a:extLst>
              <a:ext uri="{FF2B5EF4-FFF2-40B4-BE49-F238E27FC236}">
                <a16:creationId xmlns:a16="http://schemas.microsoft.com/office/drawing/2014/main" id="{58C6071E-6D7A-892C-A351-67B55A76B230}"/>
              </a:ext>
            </a:extLst>
          </p:cNvPr>
          <p:cNvSpPr/>
          <p:nvPr/>
        </p:nvSpPr>
        <p:spPr>
          <a:xfrm>
            <a:off x="3360539" y="2306574"/>
            <a:ext cx="3550920" cy="8277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s-ES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C1FB344E-433F-0110-59B2-75E8A1192EE4}"/>
              </a:ext>
            </a:extLst>
          </p:cNvPr>
          <p:cNvGrpSpPr/>
          <p:nvPr/>
        </p:nvGrpSpPr>
        <p:grpSpPr>
          <a:xfrm>
            <a:off x="3429124" y="2431542"/>
            <a:ext cx="2793276" cy="2468880"/>
            <a:chOff x="3840099" y="2306574"/>
            <a:chExt cx="3550920" cy="2468880"/>
          </a:xfrm>
        </p:grpSpPr>
        <p:sp>
          <p:nvSpPr>
            <p:cNvPr id="42" name="Shape 27">
              <a:extLst>
                <a:ext uri="{FF2B5EF4-FFF2-40B4-BE49-F238E27FC236}">
                  <a16:creationId xmlns:a16="http://schemas.microsoft.com/office/drawing/2014/main" id="{EAAC79F4-676E-6DEB-F3A4-38D2F65FDC34}"/>
                </a:ext>
              </a:extLst>
            </p:cNvPr>
            <p:cNvSpPr/>
            <p:nvPr/>
          </p:nvSpPr>
          <p:spPr>
            <a:xfrm>
              <a:off x="3840099" y="2306574"/>
              <a:ext cx="3550920" cy="24688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sp>
          <p:nvSpPr>
            <p:cNvPr id="44" name="Text 29">
              <a:extLst>
                <a:ext uri="{FF2B5EF4-FFF2-40B4-BE49-F238E27FC236}">
                  <a16:creationId xmlns:a16="http://schemas.microsoft.com/office/drawing/2014/main" id="{131D6E36-F5BB-271D-22D0-B4EB2B43A039}"/>
                </a:ext>
              </a:extLst>
            </p:cNvPr>
            <p:cNvSpPr/>
            <p:nvPr/>
          </p:nvSpPr>
          <p:spPr>
            <a:xfrm>
              <a:off x="3977259" y="2398014"/>
              <a:ext cx="341376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Decisiones EDA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Text 30">
              <a:extLst>
                <a:ext uri="{FF2B5EF4-FFF2-40B4-BE49-F238E27FC236}">
                  <a16:creationId xmlns:a16="http://schemas.microsoft.com/office/drawing/2014/main" id="{071EF3BA-2929-7D71-C90D-B03F26A2DCEF}"/>
                </a:ext>
              </a:extLst>
            </p:cNvPr>
            <p:cNvSpPr/>
            <p:nvPr/>
          </p:nvSpPr>
          <p:spPr>
            <a:xfrm>
              <a:off x="3977259" y="2836926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Viviendas duplicadas eliminadas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Text 31">
              <a:extLst>
                <a:ext uri="{FF2B5EF4-FFF2-40B4-BE49-F238E27FC236}">
                  <a16:creationId xmlns:a16="http://schemas.microsoft.com/office/drawing/2014/main" id="{B9B2A5CA-ABF3-CA17-F471-B85F34BB9383}"/>
                </a:ext>
              </a:extLst>
            </p:cNvPr>
            <p:cNvSpPr/>
            <p:nvPr/>
          </p:nvSpPr>
          <p:spPr>
            <a:xfrm>
              <a:off x="3977259" y="317525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Nulos en Baños/Dormitorios eliminados 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Text 32">
              <a:extLst>
                <a:ext uri="{FF2B5EF4-FFF2-40B4-BE49-F238E27FC236}">
                  <a16:creationId xmlns:a16="http://schemas.microsoft.com/office/drawing/2014/main" id="{667E7EF6-4775-EF32-F0F8-7DC171786ABD}"/>
                </a:ext>
              </a:extLst>
            </p:cNvPr>
            <p:cNvSpPr/>
            <p:nvPr/>
          </p:nvSpPr>
          <p:spPr>
            <a:xfrm>
              <a:off x="3977259" y="3579494"/>
              <a:ext cx="34137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Conservación (40% nulos) y Planta excluidas (no da el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nº</a:t>
              </a:r>
              <a:r>
                <a:rPr lang="es-ES" sz="1000" noProof="0" dirty="0">
                  <a:solidFill>
                    <a:srgbClr val="475569"/>
                  </a:solidFill>
                </a:rPr>
                <a:t>  de planta) se recogen como línea de mejora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 33">
              <a:extLst>
                <a:ext uri="{FF2B5EF4-FFF2-40B4-BE49-F238E27FC236}">
                  <a16:creationId xmlns:a16="http://schemas.microsoft.com/office/drawing/2014/main" id="{B7D9013B-C5F0-0101-8C60-7D11B8336A8F}"/>
                </a:ext>
              </a:extLst>
            </p:cNvPr>
            <p:cNvSpPr/>
            <p:nvPr/>
          </p:nvSpPr>
          <p:spPr>
            <a:xfrm>
              <a:off x="3977259" y="394525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 err="1">
                  <a:solidFill>
                    <a:srgbClr val="475569"/>
                  </a:solidFill>
                </a:rPr>
                <a:t>MinMaxScaler</a:t>
              </a:r>
              <a:r>
                <a:rPr lang="es-ES" sz="1000" noProof="0" dirty="0">
                  <a:solidFill>
                    <a:srgbClr val="475569"/>
                  </a:solidFill>
                </a:rPr>
                <a:t> aplicado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 33">
              <a:extLst>
                <a:ext uri="{FF2B5EF4-FFF2-40B4-BE49-F238E27FC236}">
                  <a16:creationId xmlns:a16="http://schemas.microsoft.com/office/drawing/2014/main" id="{FBB2BC7E-EB90-3071-E5CF-FD87630AE93E}"/>
                </a:ext>
              </a:extLst>
            </p:cNvPr>
            <p:cNvSpPr/>
            <p:nvPr/>
          </p:nvSpPr>
          <p:spPr>
            <a:xfrm>
              <a:off x="3977259" y="4267514"/>
              <a:ext cx="3331464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OHE sobre 11 variables categóricas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0" name="Shape 27">
            <a:extLst>
              <a:ext uri="{FF2B5EF4-FFF2-40B4-BE49-F238E27FC236}">
                <a16:creationId xmlns:a16="http://schemas.microsoft.com/office/drawing/2014/main" id="{B60249E9-F123-C3AA-D1E0-856A9FD700CD}"/>
              </a:ext>
            </a:extLst>
          </p:cNvPr>
          <p:cNvSpPr/>
          <p:nvPr/>
        </p:nvSpPr>
        <p:spPr>
          <a:xfrm>
            <a:off x="6330295" y="2431542"/>
            <a:ext cx="2616794" cy="24271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B" noProof="0" dirty="0"/>
          </a:p>
        </p:txBody>
      </p:sp>
      <p:sp>
        <p:nvSpPr>
          <p:cNvPr id="51" name="Shape 28">
            <a:extLst>
              <a:ext uri="{FF2B5EF4-FFF2-40B4-BE49-F238E27FC236}">
                <a16:creationId xmlns:a16="http://schemas.microsoft.com/office/drawing/2014/main" id="{3435E2C0-5C0B-DFAB-3AE3-E1ED9DD279E0}"/>
              </a:ext>
            </a:extLst>
          </p:cNvPr>
          <p:cNvSpPr/>
          <p:nvPr/>
        </p:nvSpPr>
        <p:spPr>
          <a:xfrm>
            <a:off x="6423752" y="2306574"/>
            <a:ext cx="2568230" cy="77280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ES" dirty="0"/>
          </a:p>
        </p:txBody>
      </p:sp>
      <p:grpSp>
        <p:nvGrpSpPr>
          <p:cNvPr id="60" name="Grupo 59">
            <a:extLst>
              <a:ext uri="{FF2B5EF4-FFF2-40B4-BE49-F238E27FC236}">
                <a16:creationId xmlns:a16="http://schemas.microsoft.com/office/drawing/2014/main" id="{6626F2CA-EC7B-0BA4-18C4-5394A7B3A2C0}"/>
              </a:ext>
            </a:extLst>
          </p:cNvPr>
          <p:cNvGrpSpPr/>
          <p:nvPr/>
        </p:nvGrpSpPr>
        <p:grpSpPr>
          <a:xfrm>
            <a:off x="6323076" y="2389346"/>
            <a:ext cx="2820924" cy="2394776"/>
            <a:chOff x="7285101" y="2475295"/>
            <a:chExt cx="1921607" cy="2394776"/>
          </a:xfrm>
        </p:grpSpPr>
        <p:sp>
          <p:nvSpPr>
            <p:cNvPr id="52" name="Text 29">
              <a:extLst>
                <a:ext uri="{FF2B5EF4-FFF2-40B4-BE49-F238E27FC236}">
                  <a16:creationId xmlns:a16="http://schemas.microsoft.com/office/drawing/2014/main" id="{2C5D47F2-C614-998B-8AAB-8C8AA17FF442}"/>
                </a:ext>
              </a:extLst>
            </p:cNvPr>
            <p:cNvSpPr/>
            <p:nvPr/>
          </p:nvSpPr>
          <p:spPr>
            <a:xfrm>
              <a:off x="7353681" y="2475295"/>
              <a:ext cx="1853027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100" b="1" noProof="0" dirty="0">
                  <a:solidFill>
                    <a:srgbClr val="0F172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Hallazgos</a:t>
              </a:r>
              <a:endParaRPr lang="es-ES" sz="11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 30">
              <a:extLst>
                <a:ext uri="{FF2B5EF4-FFF2-40B4-BE49-F238E27FC236}">
                  <a16:creationId xmlns:a16="http://schemas.microsoft.com/office/drawing/2014/main" id="{62BCC1C8-99FA-E902-4D02-B0A3A4E03382}"/>
                </a:ext>
              </a:extLst>
            </p:cNvPr>
            <p:cNvSpPr/>
            <p:nvPr/>
          </p:nvSpPr>
          <p:spPr>
            <a:xfrm>
              <a:off x="7285101" y="2924937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1 de cada 6 registros tenía precios erróneos o negativos: hemos filtrado a rango 500–15000 €/m². El modelo no aprendía.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 30">
              <a:extLst>
                <a:ext uri="{FF2B5EF4-FFF2-40B4-BE49-F238E27FC236}">
                  <a16:creationId xmlns:a16="http://schemas.microsoft.com/office/drawing/2014/main" id="{64872CFE-04F6-8BB6-2567-04063C9A0808}"/>
                </a:ext>
              </a:extLst>
            </p:cNvPr>
            <p:cNvSpPr/>
            <p:nvPr/>
          </p:nvSpPr>
          <p:spPr>
            <a:xfrm>
              <a:off x="7285101" y="3306064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El 70% de los pisos tienen baja o muy baja demanda.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 30">
              <a:extLst>
                <a:ext uri="{FF2B5EF4-FFF2-40B4-BE49-F238E27FC236}">
                  <a16:creationId xmlns:a16="http://schemas.microsoft.com/office/drawing/2014/main" id="{9342B5C5-421B-5314-E52C-BBF90C555072}"/>
                </a:ext>
              </a:extLst>
            </p:cNvPr>
            <p:cNvSpPr/>
            <p:nvPr/>
          </p:nvSpPr>
          <p:spPr>
            <a:xfrm>
              <a:off x="7285101" y="3687191"/>
              <a:ext cx="1853027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Barrio/Distrito excluidos del OHE: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lat</a:t>
              </a:r>
              <a:r>
                <a:rPr lang="es-ES" sz="1000" noProof="0" dirty="0">
                  <a:solidFill>
                    <a:srgbClr val="475569"/>
                  </a:solidFill>
                </a:rPr>
                <a:t>/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lon</a:t>
              </a:r>
              <a:r>
                <a:rPr lang="es-ES" sz="1000" noProof="0" dirty="0">
                  <a:solidFill>
                    <a:srgbClr val="475569"/>
                  </a:solidFill>
                </a:rPr>
                <a:t> captura la misma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info</a:t>
              </a:r>
              <a:r>
                <a:rPr lang="es-ES" sz="1000" noProof="0" dirty="0">
                  <a:solidFill>
                    <a:srgbClr val="475569"/>
                  </a:solidFill>
                </a:rPr>
                <a:t> sin añadir ~80 columnas dispersas</a:t>
              </a:r>
              <a:endParaRPr lang="es-ES" sz="1000" noProof="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 22">
              <a:extLst>
                <a:ext uri="{FF2B5EF4-FFF2-40B4-BE49-F238E27FC236}">
                  <a16:creationId xmlns:a16="http://schemas.microsoft.com/office/drawing/2014/main" id="{2FE7B1A9-4497-8579-08F2-5AA4F81F7E95}"/>
                </a:ext>
              </a:extLst>
            </p:cNvPr>
            <p:cNvSpPr/>
            <p:nvPr/>
          </p:nvSpPr>
          <p:spPr>
            <a:xfrm>
              <a:off x="7285101" y="4068318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Precio total excluido como </a:t>
              </a:r>
              <a:r>
                <a:rPr lang="es-ES" sz="1000" noProof="0" dirty="0" err="1">
                  <a:solidFill>
                    <a:srgbClr val="475569"/>
                  </a:solidFill>
                </a:rPr>
                <a:t>feature</a:t>
              </a:r>
              <a:endParaRPr lang="es-ES" sz="1000" noProof="0" dirty="0">
                <a:solidFill>
                  <a:srgbClr val="475569"/>
                </a:solidFill>
              </a:endParaRPr>
            </a:p>
          </p:txBody>
        </p:sp>
        <p:sp>
          <p:nvSpPr>
            <p:cNvPr id="57" name="Text 22">
              <a:extLst>
                <a:ext uri="{FF2B5EF4-FFF2-40B4-BE49-F238E27FC236}">
                  <a16:creationId xmlns:a16="http://schemas.microsoft.com/office/drawing/2014/main" id="{8C5C8B2E-42D6-CE9B-C1D0-830F1A2E2482}"/>
                </a:ext>
              </a:extLst>
            </p:cNvPr>
            <p:cNvSpPr/>
            <p:nvPr/>
          </p:nvSpPr>
          <p:spPr>
            <a:xfrm>
              <a:off x="7285101" y="4467735"/>
              <a:ext cx="1853027" cy="402336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s-ES" sz="1000" noProof="0" dirty="0">
                  <a:solidFill>
                    <a:srgbClr val="475569"/>
                  </a:solidFill>
                </a:rPr>
                <a:t>Con 16 variables el modelo funciona aceptablemente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550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Machine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320040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 Split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/ 20%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cualquier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20240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2020824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020824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20824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20824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→ Drop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precio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 filtrados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21024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2"/>
          <p:cNvSpPr/>
          <p:nvPr/>
        </p:nvSpPr>
        <p:spPr>
          <a:xfrm>
            <a:off x="3721608" y="1097280"/>
            <a:ext cx="1554480" cy="32004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721608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21608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(OHE)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21608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vars categóricas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Encoding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dtype=int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21808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Shape 17"/>
          <p:cNvSpPr/>
          <p:nvPr/>
        </p:nvSpPr>
        <p:spPr>
          <a:xfrm>
            <a:off x="5422392" y="1097280"/>
            <a:ext cx="1554480" cy="3200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5422392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22392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22392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(-1, 1)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 train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22592" y="2697480"/>
            <a:ext cx="54864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22"/>
          <p:cNvSpPr/>
          <p:nvPr/>
        </p:nvSpPr>
        <p:spPr>
          <a:xfrm>
            <a:off x="7123176" y="1097280"/>
            <a:ext cx="1554480" cy="3200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7123176" y="11430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23176" y="17373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123176" y="224028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480560"/>
            <a:ext cx="85039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0C04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57200" y="448056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D5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El scaler se ajusta ÚNICAMENTE sobre train_set y se aplica al test_set — evitando data leakage.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— Comparativa de Modelos</a:t>
            </a:r>
            <a:endParaRPr lang="en-US" sz="2400" dirty="0"/>
          </a:p>
        </p:txBody>
      </p:sp>
      <p:graphicFrame>
        <p:nvGraphicFramePr>
          <p:cNvPr id="21" name="Table 0">
            <a:extLst>
              <a:ext uri="{FF2B5EF4-FFF2-40B4-BE49-F238E27FC236}">
                <a16:creationId xmlns:a16="http://schemas.microsoft.com/office/drawing/2014/main" id="{A2A66078-A1EE-59B0-5F73-75A4CFC60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1177694"/>
              </p:ext>
            </p:extLst>
          </p:nvPr>
        </p:nvGraphicFramePr>
        <p:xfrm>
          <a:off x="601784" y="1584177"/>
          <a:ext cx="7784581" cy="2099251"/>
        </p:xfrm>
        <a:graphic>
          <a:graphicData uri="http://schemas.openxmlformats.org/drawingml/2006/table">
            <a:tbl>
              <a:tblPr/>
              <a:tblGrid>
                <a:gridCol w="24844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0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Modelo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Train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Regresión Lineal (baseline)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1.141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1.129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0.294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Árbol de Decisión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866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0.493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Random Forest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0.775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XGBoost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</a:rPr>
                        <a:t>562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497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0.722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/>
                        <a:t>Random Forest Tuned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kern="1200" dirty="0">
                          <a:solidFill>
                            <a:srgbClr val="94A3B8"/>
                          </a:solidFill>
                          <a:latin typeface="+mn-lt"/>
                          <a:ea typeface="+mn-ea"/>
                          <a:cs typeface="+mn-cs"/>
                        </a:rPr>
                        <a:t>523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729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494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/>
                        <a:t>0.706</a:t>
                      </a: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09775"/>
                  </a:ext>
                </a:extLst>
              </a:tr>
              <a:tr h="2998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F172A"/>
                          </a:solidFill>
                        </a:rPr>
                        <a:t>🏆  XGBoost Tuned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182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~588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~378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</a:rPr>
                        <a:t>~0.809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Text 30">
            <a:extLst>
              <a:ext uri="{FF2B5EF4-FFF2-40B4-BE49-F238E27FC236}">
                <a16:creationId xmlns:a16="http://schemas.microsoft.com/office/drawing/2014/main" id="{91C4992F-17B2-0435-5B5F-F7B793DEC19E}"/>
              </a:ext>
            </a:extLst>
          </p:cNvPr>
          <p:cNvSpPr/>
          <p:nvPr/>
        </p:nvSpPr>
        <p:spPr>
          <a:xfrm>
            <a:off x="396685" y="3540264"/>
            <a:ext cx="7078702" cy="1515597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GB" sz="700" b="1" noProof="0" dirty="0">
                <a:latin typeface="Arial" panose="020B0604020202020204" pitchFamily="34" charset="0"/>
                <a:cs typeface="Arial" panose="020B0604020202020204" pitchFamily="34" charset="0"/>
              </a:rPr>
              <a:t>Insights: 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noProof="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Demanda Muy baja es la variable más importante (21%): estos pisos tienden a tener precios más altos, lo que puede implicar predicciones al alza.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Ausencia de AC (14%) y Ascensor (9%) son la segunda y tercera </a:t>
            </a:r>
            <a:r>
              <a:rPr lang="es-ES" sz="700" dirty="0" err="1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que más % de la varianza explica. La ausencia de estas comodidades se suele asociar a precios más bajos.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Latitud (5%)  /Longitud (5%) explican de manera combinada el 10% de la varianza. La ubicación es relevante para el precio, pero no dominante.</a:t>
            </a:r>
          </a:p>
          <a:p>
            <a:pPr marL="171450" indent="-171450">
              <a:lnSpc>
                <a:spcPct val="150000"/>
              </a:lnSpc>
              <a:buClr>
                <a:srgbClr val="2563EB"/>
              </a:buClr>
              <a:buFont typeface="Arial" panose="020B0604020202020204" pitchFamily="34" charset="0"/>
              <a:buChar char="•"/>
            </a:pPr>
            <a:r>
              <a:rPr lang="es-ES" sz="700" dirty="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Baños (8%), dormitorios (5%) y Superficie (5%) de manera combinada pesan más que la ubicación.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0799-A2E0-0417-95BE-9992D4D00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65B1B245-96AF-5D56-0609-C8B7ACFF5D88}"/>
              </a:ext>
            </a:extLst>
          </p:cNvPr>
          <p:cNvSpPr/>
          <p:nvPr/>
        </p:nvSpPr>
        <p:spPr>
          <a:xfrm>
            <a:off x="1143000" y="1358348"/>
            <a:ext cx="3291840" cy="2838748"/>
          </a:xfrm>
          <a:prstGeom prst="rect">
            <a:avLst/>
          </a:prstGeom>
          <a:solidFill>
            <a:schemeClr val="tx1">
              <a:alpha val="80000"/>
            </a:scheme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s-ES" sz="135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59D165F-AFBC-973E-F767-BBDDBA932840}"/>
              </a:ext>
            </a:extLst>
          </p:cNvPr>
          <p:cNvSpPr/>
          <p:nvPr/>
        </p:nvSpPr>
        <p:spPr>
          <a:xfrm>
            <a:off x="1280160" y="1693926"/>
            <a:ext cx="27432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>
                <a:solidFill>
                  <a:schemeClr val="bg1"/>
                </a:solidFill>
              </a:rPr>
              <a:t>  Conclusiones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AE6DBA61-B619-1555-7C5C-AFA516CE6D38}"/>
              </a:ext>
            </a:extLst>
          </p:cNvPr>
          <p:cNvSpPr/>
          <p:nvPr/>
        </p:nvSpPr>
        <p:spPr>
          <a:xfrm>
            <a:off x="1280160" y="202311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El modelo predice el precio/m² con un error medio de ~588 € </a:t>
            </a:r>
            <a:endParaRPr lang="en-US" sz="713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9D078EA1-50AB-F1F5-A88C-8C2DBBDF3601}"/>
              </a:ext>
            </a:extLst>
          </p:cNvPr>
          <p:cNvSpPr/>
          <p:nvPr/>
        </p:nvSpPr>
        <p:spPr>
          <a:xfrm>
            <a:off x="1280160" y="243459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La zona (demanda) y el estado del inmueble (AC, ascensor) explican más del </a:t>
            </a:r>
            <a:r>
              <a:rPr lang="en-US" sz="713" dirty="0" err="1">
                <a:solidFill>
                  <a:srgbClr val="E2E8F0"/>
                </a:solidFill>
              </a:rPr>
              <a:t>precio</a:t>
            </a:r>
            <a:r>
              <a:rPr lang="en-US" sz="713" dirty="0">
                <a:solidFill>
                  <a:srgbClr val="E2E8F0"/>
                </a:solidFill>
              </a:rPr>
              <a:t> que la </a:t>
            </a:r>
            <a:r>
              <a:rPr lang="en-US" sz="713" dirty="0" err="1">
                <a:solidFill>
                  <a:srgbClr val="E2E8F0"/>
                </a:solidFill>
              </a:rPr>
              <a:t>ubicación</a:t>
            </a:r>
            <a:endParaRPr lang="en-US" sz="713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6B95DFAB-2455-228B-5B91-8E910FA549E0}"/>
              </a:ext>
            </a:extLst>
          </p:cNvPr>
          <p:cNvSpPr/>
          <p:nvPr/>
        </p:nvSpPr>
        <p:spPr>
          <a:xfrm>
            <a:off x="1280160" y="284607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El 21% de registros tenía errores graves de datos (precios negativos, duplicados). La calidad del dato es el primer cuello de botella</a:t>
            </a:r>
            <a:endParaRPr lang="en-US" sz="713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DDD50EC0-4309-B318-06AB-C179939BE2CC}"/>
              </a:ext>
            </a:extLst>
          </p:cNvPr>
          <p:cNvSpPr/>
          <p:nvPr/>
        </p:nvSpPr>
        <p:spPr>
          <a:xfrm>
            <a:off x="1280160" y="325755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Conservación y Planta están excluidas por nulos </a:t>
            </a:r>
            <a:r>
              <a:rPr lang="en-US" sz="713" dirty="0" err="1">
                <a:solidFill>
                  <a:srgbClr val="E2E8F0"/>
                </a:solidFill>
              </a:rPr>
              <a:t>excesivos</a:t>
            </a:r>
            <a:r>
              <a:rPr lang="en-US" sz="713" dirty="0">
                <a:solidFill>
                  <a:srgbClr val="E2E8F0"/>
                </a:solidFill>
              </a:rPr>
              <a:t> o ser </a:t>
            </a:r>
            <a:r>
              <a:rPr lang="en-US" sz="713" dirty="0" err="1">
                <a:solidFill>
                  <a:srgbClr val="E2E8F0"/>
                </a:solidFill>
              </a:rPr>
              <a:t>dificil</a:t>
            </a:r>
            <a:r>
              <a:rPr lang="en-US" sz="713" dirty="0">
                <a:solidFill>
                  <a:srgbClr val="E2E8F0"/>
                </a:solidFill>
              </a:rPr>
              <a:t> de interpreter. </a:t>
            </a:r>
            <a:r>
              <a:rPr lang="en-US" sz="713" dirty="0" err="1">
                <a:solidFill>
                  <a:srgbClr val="E2E8F0"/>
                </a:solidFill>
              </a:rPr>
              <a:t>Recuperarlas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podría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mejorar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el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modelo</a:t>
            </a:r>
            <a:r>
              <a:rPr lang="en-US" sz="713" dirty="0">
                <a:solidFill>
                  <a:srgbClr val="E2E8F0"/>
                </a:solidFill>
              </a:rPr>
              <a:t>.</a:t>
            </a:r>
            <a:endParaRPr lang="en-US" sz="713" dirty="0"/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DE09E19B-3EC7-EDB9-F662-330B4D0C4559}"/>
              </a:ext>
            </a:extLst>
          </p:cNvPr>
          <p:cNvSpPr/>
          <p:nvPr/>
        </p:nvSpPr>
        <p:spPr>
          <a:xfrm>
            <a:off x="4572000" y="1358348"/>
            <a:ext cx="3291840" cy="2838748"/>
          </a:xfrm>
          <a:prstGeom prst="rect">
            <a:avLst/>
          </a:prstGeom>
          <a:solidFill>
            <a:schemeClr val="tx1">
              <a:alpha val="80000"/>
            </a:schemeClr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s-ES" sz="135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F02FC1E8-E9ED-61CE-EDB5-E16D2C1A6AAF}"/>
              </a:ext>
            </a:extLst>
          </p:cNvPr>
          <p:cNvSpPr/>
          <p:nvPr/>
        </p:nvSpPr>
        <p:spPr>
          <a:xfrm>
            <a:off x="4709160" y="1693926"/>
            <a:ext cx="274320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dirty="0" err="1">
                <a:solidFill>
                  <a:schemeClr val="bg1"/>
                </a:solidFill>
              </a:rPr>
              <a:t>Acciones</a:t>
            </a:r>
            <a:r>
              <a:rPr lang="en-US" sz="900" b="1" dirty="0">
                <a:solidFill>
                  <a:schemeClr val="bg1"/>
                </a:solidFill>
              </a:rPr>
              <a:t> de mejora concretas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2946A308-5383-7996-EABA-4A54C9413131}"/>
              </a:ext>
            </a:extLst>
          </p:cNvPr>
          <p:cNvSpPr/>
          <p:nvPr/>
        </p:nvSpPr>
        <p:spPr>
          <a:xfrm>
            <a:off x="4709160" y="202311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Recuperar 'Conservación' y 'Planta' con imputación — se estima una mejora de R² de 3-5 puntos sin cambiar el modelo</a:t>
            </a:r>
            <a:endParaRPr lang="en-US" sz="713" dirty="0"/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108BAF03-59FC-8144-58B3-9D5F52558ED4}"/>
              </a:ext>
            </a:extLst>
          </p:cNvPr>
          <p:cNvSpPr/>
          <p:nvPr/>
        </p:nvSpPr>
        <p:spPr>
          <a:xfrm>
            <a:off x="4709160" y="2434590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Añadir distancia al metro, playa o </a:t>
            </a:r>
            <a:r>
              <a:rPr lang="en-US" sz="713" dirty="0" err="1">
                <a:solidFill>
                  <a:srgbClr val="E2E8F0"/>
                </a:solidFill>
              </a:rPr>
              <a:t>centro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como</a:t>
            </a:r>
            <a:r>
              <a:rPr lang="en-US" sz="713" dirty="0">
                <a:solidFill>
                  <a:srgbClr val="E2E8F0"/>
                </a:solidFill>
              </a:rPr>
              <a:t> features </a:t>
            </a:r>
            <a:r>
              <a:rPr lang="en-US" sz="713" dirty="0" err="1">
                <a:solidFill>
                  <a:srgbClr val="E2E8F0"/>
                </a:solidFill>
              </a:rPr>
              <a:t>adicionales</a:t>
            </a:r>
            <a:r>
              <a:rPr lang="en-US" sz="713" dirty="0">
                <a:solidFill>
                  <a:srgbClr val="E2E8F0"/>
                </a:solidFill>
              </a:rPr>
              <a:t>.</a:t>
            </a:r>
            <a:endParaRPr lang="en-US" sz="713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4FD43D3E-2197-4B37-7713-743588BF201D}"/>
              </a:ext>
            </a:extLst>
          </p:cNvPr>
          <p:cNvSpPr/>
          <p:nvPr/>
        </p:nvSpPr>
        <p:spPr>
          <a:xfrm>
            <a:off x="4709160" y="2911221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</a:t>
            </a:r>
            <a:r>
              <a:rPr lang="en-US" sz="713" dirty="0" err="1">
                <a:solidFill>
                  <a:srgbClr val="E2E8F0"/>
                </a:solidFill>
              </a:rPr>
              <a:t>Ampliar</a:t>
            </a:r>
            <a:r>
              <a:rPr lang="en-US" sz="713" dirty="0">
                <a:solidFill>
                  <a:srgbClr val="E2E8F0"/>
                </a:solidFill>
              </a:rPr>
              <a:t> dataset con </a:t>
            </a:r>
            <a:r>
              <a:rPr lang="en-US" sz="713" dirty="0" err="1">
                <a:solidFill>
                  <a:srgbClr val="E2E8F0"/>
                </a:solidFill>
              </a:rPr>
              <a:t>datos</a:t>
            </a:r>
            <a:r>
              <a:rPr lang="en-US" sz="713" dirty="0">
                <a:solidFill>
                  <a:srgbClr val="E2E8F0"/>
                </a:solidFill>
              </a:rPr>
              <a:t> de </a:t>
            </a:r>
            <a:r>
              <a:rPr lang="en-US" sz="713" dirty="0" err="1">
                <a:solidFill>
                  <a:srgbClr val="E2E8F0"/>
                </a:solidFill>
              </a:rPr>
              <a:t>otros</a:t>
            </a:r>
            <a:r>
              <a:rPr lang="en-US" sz="713" dirty="0">
                <a:solidFill>
                  <a:srgbClr val="E2E8F0"/>
                </a:solidFill>
              </a:rPr>
              <a:t> </a:t>
            </a:r>
            <a:r>
              <a:rPr lang="en-US" sz="713" dirty="0" err="1">
                <a:solidFill>
                  <a:srgbClr val="E2E8F0"/>
                </a:solidFill>
              </a:rPr>
              <a:t>portale</a:t>
            </a:r>
            <a:r>
              <a:rPr lang="en-US" sz="713" dirty="0">
                <a:solidFill>
                  <a:srgbClr val="E2E8F0"/>
                </a:solidFill>
              </a:rPr>
              <a:t> y meses (solo </a:t>
            </a:r>
            <a:r>
              <a:rPr lang="en-US" sz="713" dirty="0" err="1">
                <a:solidFill>
                  <a:srgbClr val="E2E8F0"/>
                </a:solidFill>
              </a:rPr>
              <a:t>disponemos</a:t>
            </a:r>
            <a:r>
              <a:rPr lang="en-US" sz="713" dirty="0">
                <a:solidFill>
                  <a:srgbClr val="E2E8F0"/>
                </a:solidFill>
              </a:rPr>
              <a:t> de </a:t>
            </a:r>
            <a:r>
              <a:rPr lang="en-US" sz="713" dirty="0" err="1">
                <a:solidFill>
                  <a:srgbClr val="E2E8F0"/>
                </a:solidFill>
              </a:rPr>
              <a:t>datos</a:t>
            </a:r>
            <a:r>
              <a:rPr lang="en-US" sz="713" dirty="0">
                <a:solidFill>
                  <a:srgbClr val="E2E8F0"/>
                </a:solidFill>
              </a:rPr>
              <a:t> de 2025) </a:t>
            </a:r>
            <a:endParaRPr lang="en-US" sz="713" dirty="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7998271-4FDE-F70A-ACFD-40244AD25DB7}"/>
              </a:ext>
            </a:extLst>
          </p:cNvPr>
          <p:cNvSpPr/>
          <p:nvPr/>
        </p:nvSpPr>
        <p:spPr>
          <a:xfrm>
            <a:off x="4709160" y="3387852"/>
            <a:ext cx="2743200" cy="3703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713" dirty="0">
                <a:solidFill>
                  <a:srgbClr val="E2E8F0"/>
                </a:solidFill>
              </a:rPr>
              <a:t>▸  </a:t>
            </a:r>
            <a:r>
              <a:rPr lang="en-US" sz="713" dirty="0" err="1">
                <a:solidFill>
                  <a:srgbClr val="E2E8F0"/>
                </a:solidFill>
              </a:rPr>
              <a:t>Reducir</a:t>
            </a:r>
            <a:r>
              <a:rPr lang="en-US" sz="713" dirty="0">
                <a:solidFill>
                  <a:srgbClr val="E2E8F0"/>
                </a:solidFill>
              </a:rPr>
              <a:t> overfitting</a:t>
            </a:r>
            <a:endParaRPr lang="en-US" sz="713" dirty="0"/>
          </a:p>
        </p:txBody>
      </p:sp>
    </p:spTree>
    <p:extLst>
      <p:ext uri="{BB962C8B-B14F-4D97-AF65-F5344CB8AC3E}">
        <p14:creationId xmlns:p14="http://schemas.microsoft.com/office/powerpoint/2010/main" val="1871664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737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8EF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Mercado Inmobiliario en Valencia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· Feature Engineering · Random Forest · Valencia 2025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4A5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github.com/Apriroca/ML_Prediccion_Vivienda_Valencia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824</Words>
  <Application>Microsoft Office PowerPoint</Application>
  <PresentationFormat>Affichage à l'écran (16:9)</PresentationFormat>
  <Paragraphs>154</Paragraphs>
  <Slides>8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del Mercado Inmobiliario en Valencia</dc:title>
  <dc:subject>PptxGenJS Presentation</dc:subject>
  <dc:creator>PptxGenJS</dc:creator>
  <cp:lastModifiedBy>anais dethy</cp:lastModifiedBy>
  <cp:revision>7</cp:revision>
  <dcterms:created xsi:type="dcterms:W3CDTF">2026-03-03T12:03:14Z</dcterms:created>
  <dcterms:modified xsi:type="dcterms:W3CDTF">2026-03-04T18:57:54Z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a7ed875-cb67-40d7-9ea6-a804b08b1148_Enabled">
    <vt:lpwstr>true</vt:lpwstr>
  </property>
  <property fmtid="{D5CDD505-2E9C-101B-9397-08002B2CF9AE}" pid="3" name="MSIP_Label_9a7ed875-cb67-40d7-9ea6-a804b08b1148_SetDate">
    <vt:lpwstr>2026-03-03T17:11:24Z</vt:lpwstr>
  </property>
  <property fmtid="{D5CDD505-2E9C-101B-9397-08002B2CF9AE}" pid="4" name="MSIP_Label_9a7ed875-cb67-40d7-9ea6-a804b08b1148_Method">
    <vt:lpwstr>Privileged</vt:lpwstr>
  </property>
  <property fmtid="{D5CDD505-2E9C-101B-9397-08002B2CF9AE}" pid="5" name="MSIP_Label_9a7ed875-cb67-40d7-9ea6-a804b08b1148_Name">
    <vt:lpwstr>9a7ed875-cb67-40d7-9ea6-a804b08b1148</vt:lpwstr>
  </property>
  <property fmtid="{D5CDD505-2E9C-101B-9397-08002B2CF9AE}" pid="6" name="MSIP_Label_9a7ed875-cb67-40d7-9ea6-a804b08b1148_SiteId">
    <vt:lpwstr>473672ba-cd07-4371-a2ae-788b4c61840e</vt:lpwstr>
  </property>
  <property fmtid="{D5CDD505-2E9C-101B-9397-08002B2CF9AE}" pid="7" name="MSIP_Label_9a7ed875-cb67-40d7-9ea6-a804b08b1148_ActionId">
    <vt:lpwstr>7923104a-5530-4b33-8ef6-340fbde25c0b</vt:lpwstr>
  </property>
  <property fmtid="{D5CDD505-2E9C-101B-9397-08002B2CF9AE}" pid="8" name="MSIP_Label_9a7ed875-cb67-40d7-9ea6-a804b08b1148_ContentBits">
    <vt:lpwstr>0</vt:lpwstr>
  </property>
  <property fmtid="{D5CDD505-2E9C-101B-9397-08002B2CF9AE}" pid="9" name="MSIP_Label_9a7ed875-cb67-40d7-9ea6-a804b08b1148_Tag">
    <vt:lpwstr>10, 0, 1, 1</vt:lpwstr>
  </property>
</Properties>
</file>